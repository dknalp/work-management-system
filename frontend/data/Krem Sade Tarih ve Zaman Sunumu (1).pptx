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K Grotesk Bold" charset="1" panose="00000800000000000000"/>
      <p:regular r:id="rId16"/>
    </p:embeddedFont>
    <p:embeddedFont>
      <p:font typeface="HK Grotesk" charset="1" panose="00000500000000000000"/>
      <p:regular r:id="rId17"/>
    </p:embeddedFont>
    <p:embeddedFont>
      <p:font typeface="HK Grotesk Bold Italics" charset="1" panose="00000800000000000000"/>
      <p:regular r:id="rId18"/>
    </p:embeddedFont>
    <p:embeddedFont>
      <p:font typeface="Symphony" charset="1" panose="0202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sp>
        <p:nvSpPr>
          <p:cNvPr name="Freeform 2" id="2"/>
          <p:cNvSpPr/>
          <p:nvPr/>
        </p:nvSpPr>
        <p:spPr>
          <a:xfrm flipH="false" flipV="false" rot="0">
            <a:off x="5757383" y="2426359"/>
            <a:ext cx="12530617" cy="7048472"/>
          </a:xfrm>
          <a:custGeom>
            <a:avLst/>
            <a:gdLst/>
            <a:ahLst/>
            <a:cxnLst/>
            <a:rect r="r" b="b" t="t" l="l"/>
            <a:pathLst>
              <a:path h="7048472" w="12530617">
                <a:moveTo>
                  <a:pt x="0" y="0"/>
                </a:moveTo>
                <a:lnTo>
                  <a:pt x="12530617" y="0"/>
                </a:lnTo>
                <a:lnTo>
                  <a:pt x="12530617" y="7048472"/>
                </a:lnTo>
                <a:lnTo>
                  <a:pt x="0" y="7048472"/>
                </a:lnTo>
                <a:lnTo>
                  <a:pt x="0" y="0"/>
                </a:lnTo>
                <a:close/>
              </a:path>
            </a:pathLst>
          </a:custGeom>
          <a:blipFill>
            <a:blip r:embed="rId2"/>
            <a:stretch>
              <a:fillRect l="0" t="0" r="0" b="0"/>
            </a:stretch>
          </a:blipFill>
        </p:spPr>
      </p:sp>
      <p:sp>
        <p:nvSpPr>
          <p:cNvPr name="TextBox 3" id="3"/>
          <p:cNvSpPr txBox="true"/>
          <p:nvPr/>
        </p:nvSpPr>
        <p:spPr>
          <a:xfrm rot="0">
            <a:off x="176982" y="485123"/>
            <a:ext cx="8559405" cy="4215847"/>
          </a:xfrm>
          <a:prstGeom prst="rect">
            <a:avLst/>
          </a:prstGeom>
        </p:spPr>
        <p:txBody>
          <a:bodyPr anchor="t" rtlCol="false" tIns="0" lIns="0" bIns="0" rIns="0">
            <a:spAutoFit/>
          </a:bodyPr>
          <a:lstStyle/>
          <a:p>
            <a:pPr algn="l">
              <a:lnSpc>
                <a:spcPts val="10786"/>
              </a:lnSpc>
            </a:pPr>
            <a:r>
              <a:rPr lang="en-US" sz="11985" spc="-743" b="true">
                <a:solidFill>
                  <a:srgbClr val="2C160A"/>
                </a:solidFill>
                <a:latin typeface="HK Grotesk Bold"/>
                <a:ea typeface="HK Grotesk Bold"/>
                <a:cs typeface="HK Grotesk Bold"/>
                <a:sym typeface="HK Grotesk Bold"/>
              </a:rPr>
              <a:t>İstanbul Arkeoloji Müzesi</a:t>
            </a:r>
          </a:p>
        </p:txBody>
      </p:sp>
      <p:sp>
        <p:nvSpPr>
          <p:cNvPr name="TextBox 4" id="4"/>
          <p:cNvSpPr txBox="true"/>
          <p:nvPr/>
        </p:nvSpPr>
        <p:spPr>
          <a:xfrm rot="0">
            <a:off x="15247847" y="9842628"/>
            <a:ext cx="7477542" cy="282194"/>
          </a:xfrm>
          <a:prstGeom prst="rect">
            <a:avLst/>
          </a:prstGeom>
        </p:spPr>
        <p:txBody>
          <a:bodyPr anchor="t" rtlCol="false" tIns="0" lIns="0" bIns="0" rIns="0">
            <a:spAutoFit/>
          </a:bodyPr>
          <a:lstStyle/>
          <a:p>
            <a:pPr algn="l">
              <a:lnSpc>
                <a:spcPts val="2067"/>
              </a:lnSpc>
            </a:pPr>
            <a:r>
              <a:rPr lang="en-US" sz="2199" spc="-72">
                <a:solidFill>
                  <a:srgbClr val="2C160A"/>
                </a:solidFill>
                <a:latin typeface="HK Grotesk"/>
                <a:ea typeface="HK Grotesk"/>
                <a:cs typeface="HK Grotesk"/>
                <a:sym typeface="HK Grotesk"/>
              </a:rPr>
              <a:t>İBRAHİM CAN ÖZDEN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10791582" y="116510"/>
            <a:ext cx="7496418" cy="11042897"/>
            <a:chOff x="0" y="0"/>
            <a:chExt cx="1119740" cy="1649477"/>
          </a:xfrm>
        </p:grpSpPr>
        <p:sp>
          <p:nvSpPr>
            <p:cNvPr name="Freeform 3" id="3"/>
            <p:cNvSpPr/>
            <p:nvPr/>
          </p:nvSpPr>
          <p:spPr>
            <a:xfrm flipH="false" flipV="false" rot="0">
              <a:off x="0" y="0"/>
              <a:ext cx="1119740" cy="1649477"/>
            </a:xfrm>
            <a:custGeom>
              <a:avLst/>
              <a:gdLst/>
              <a:ahLst/>
              <a:cxnLst/>
              <a:rect r="r" b="b" t="t" l="l"/>
              <a:pathLst>
                <a:path h="1649477" w="1119740">
                  <a:moveTo>
                    <a:pt x="0" y="0"/>
                  </a:moveTo>
                  <a:lnTo>
                    <a:pt x="1119740" y="0"/>
                  </a:lnTo>
                  <a:lnTo>
                    <a:pt x="1119740" y="1649477"/>
                  </a:lnTo>
                  <a:lnTo>
                    <a:pt x="0" y="1649477"/>
                  </a:lnTo>
                  <a:close/>
                </a:path>
              </a:pathLst>
            </a:custGeom>
            <a:blipFill>
              <a:blip r:embed="rId2"/>
              <a:stretch>
                <a:fillRect l="-5240" t="0" r="-5240" b="0"/>
              </a:stretch>
            </a:blipFill>
          </p:spPr>
        </p:sp>
      </p:grpSp>
      <p:sp>
        <p:nvSpPr>
          <p:cNvPr name="AutoShape 4" id="4"/>
          <p:cNvSpPr/>
          <p:nvPr/>
        </p:nvSpPr>
        <p:spPr>
          <a:xfrm flipV="true">
            <a:off x="1090613" y="-3979969"/>
            <a:ext cx="0" cy="649224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1028700" y="1814128"/>
            <a:ext cx="8771283" cy="3329372"/>
          </a:xfrm>
          <a:prstGeom prst="rect">
            <a:avLst/>
          </a:prstGeom>
        </p:spPr>
        <p:txBody>
          <a:bodyPr anchor="t" rtlCol="false" tIns="0" lIns="0" bIns="0" rIns="0">
            <a:spAutoFit/>
          </a:bodyPr>
          <a:lstStyle/>
          <a:p>
            <a:pPr algn="l">
              <a:lnSpc>
                <a:spcPts val="8875"/>
              </a:lnSpc>
            </a:pPr>
          </a:p>
          <a:p>
            <a:pPr algn="l">
              <a:lnSpc>
                <a:spcPts val="4368"/>
              </a:lnSpc>
            </a:pPr>
            <a:r>
              <a:rPr lang="en-US" sz="5600" spc="-184" b="true">
                <a:solidFill>
                  <a:srgbClr val="2C160A"/>
                </a:solidFill>
                <a:latin typeface="HK Grotesk Bold"/>
                <a:ea typeface="HK Grotesk Bold"/>
                <a:cs typeface="HK Grotesk Bold"/>
                <a:sym typeface="HK Grotesk Bold"/>
              </a:rPr>
              <a:t>Müze </a:t>
            </a:r>
          </a:p>
          <a:p>
            <a:pPr algn="l">
              <a:lnSpc>
                <a:spcPts val="4368"/>
              </a:lnSpc>
            </a:pPr>
            <a:r>
              <a:rPr lang="en-US" sz="5600" spc="-184" b="true">
                <a:solidFill>
                  <a:srgbClr val="2C160A"/>
                </a:solidFill>
                <a:latin typeface="HK Grotesk Bold"/>
                <a:ea typeface="HK Grotesk Bold"/>
                <a:cs typeface="HK Grotesk Bold"/>
                <a:sym typeface="HK Grotesk Bold"/>
              </a:rPr>
              <a:t>     Hakkında</a:t>
            </a:r>
          </a:p>
          <a:p>
            <a:pPr algn="l">
              <a:lnSpc>
                <a:spcPts val="4368"/>
              </a:lnSpc>
            </a:pPr>
            <a:r>
              <a:rPr lang="en-US" sz="5600" spc="-184" b="true">
                <a:solidFill>
                  <a:srgbClr val="2C160A"/>
                </a:solidFill>
                <a:latin typeface="HK Grotesk Bold"/>
                <a:ea typeface="HK Grotesk Bold"/>
                <a:cs typeface="HK Grotesk Bold"/>
                <a:sym typeface="HK Grotesk Bold"/>
              </a:rPr>
              <a:t>              Genel </a:t>
            </a:r>
          </a:p>
          <a:p>
            <a:pPr algn="l">
              <a:lnSpc>
                <a:spcPts val="4368"/>
              </a:lnSpc>
            </a:pPr>
            <a:r>
              <a:rPr lang="en-US" sz="5600" spc="-184" b="true">
                <a:solidFill>
                  <a:srgbClr val="2C160A"/>
                </a:solidFill>
                <a:latin typeface="HK Grotesk Bold"/>
                <a:ea typeface="HK Grotesk Bold"/>
                <a:cs typeface="HK Grotesk Bold"/>
                <a:sym typeface="HK Grotesk Bold"/>
              </a:rPr>
              <a:t>                        Bilgi</a:t>
            </a:r>
          </a:p>
        </p:txBody>
      </p:sp>
      <p:sp>
        <p:nvSpPr>
          <p:cNvPr name="TextBox 6" id="6"/>
          <p:cNvSpPr txBox="true"/>
          <p:nvPr/>
        </p:nvSpPr>
        <p:spPr>
          <a:xfrm rot="0">
            <a:off x="1518201" y="1417454"/>
            <a:ext cx="3530565" cy="1534842"/>
          </a:xfrm>
          <a:prstGeom prst="rect">
            <a:avLst/>
          </a:prstGeom>
        </p:spPr>
        <p:txBody>
          <a:bodyPr anchor="t" rtlCol="false" tIns="0" lIns="0" bIns="0" rIns="0">
            <a:spAutoFit/>
          </a:bodyPr>
          <a:lstStyle/>
          <a:p>
            <a:pPr algn="l">
              <a:lnSpc>
                <a:spcPts val="10662"/>
              </a:lnSpc>
            </a:pPr>
            <a:r>
              <a:rPr lang="en-US" sz="13670" spc="-451" b="true">
                <a:solidFill>
                  <a:srgbClr val="8E5021">
                    <a:alpha val="35686"/>
                  </a:srgbClr>
                </a:solidFill>
                <a:latin typeface="HK Grotesk Bold"/>
                <a:ea typeface="HK Grotesk Bold"/>
                <a:cs typeface="HK Grotesk Bold"/>
                <a:sym typeface="HK Grotesk Bold"/>
              </a:rPr>
              <a:t>01</a:t>
            </a:r>
          </a:p>
        </p:txBody>
      </p:sp>
      <p:sp>
        <p:nvSpPr>
          <p:cNvPr name="TextBox 7" id="7"/>
          <p:cNvSpPr txBox="true"/>
          <p:nvPr/>
        </p:nvSpPr>
        <p:spPr>
          <a:xfrm rot="0">
            <a:off x="-110874" y="5525046"/>
            <a:ext cx="10319279" cy="4065828"/>
          </a:xfrm>
          <a:prstGeom prst="rect">
            <a:avLst/>
          </a:prstGeom>
        </p:spPr>
        <p:txBody>
          <a:bodyPr anchor="t" rtlCol="false" tIns="0" lIns="0" bIns="0" rIns="0">
            <a:spAutoFit/>
          </a:bodyPr>
          <a:lstStyle/>
          <a:p>
            <a:pPr algn="ctr">
              <a:lnSpc>
                <a:spcPts val="2705"/>
              </a:lnSpc>
              <a:spcBef>
                <a:spcPct val="0"/>
              </a:spcBef>
            </a:pPr>
            <a:r>
              <a:rPr lang="en-US" b="true" sz="1932" spc="-63">
                <a:solidFill>
                  <a:srgbClr val="000000"/>
                </a:solidFill>
                <a:latin typeface="HK Grotesk Bold"/>
                <a:ea typeface="HK Grotesk Bold"/>
                <a:cs typeface="HK Grotesk Bold"/>
                <a:sym typeface="HK Grotesk Bold"/>
              </a:rPr>
              <a:t>Müze Hakkında Genel Bilgi</a:t>
            </a:r>
          </a:p>
          <a:p>
            <a:pPr algn="ctr">
              <a:lnSpc>
                <a:spcPts val="2705"/>
              </a:lnSpc>
              <a:spcBef>
                <a:spcPct val="0"/>
              </a:spcBef>
            </a:pPr>
            <a:r>
              <a:rPr lang="en-US" b="true" sz="1932" spc="-63">
                <a:solidFill>
                  <a:srgbClr val="000000"/>
                </a:solidFill>
                <a:latin typeface="HK Grotesk Bold"/>
                <a:ea typeface="HK Grotesk Bold"/>
                <a:cs typeface="HK Grotesk Bold"/>
                <a:sym typeface="HK Grotesk Bold"/>
              </a:rPr>
              <a:t>İstanbul Arkeoloji Müzeleri İstanbul’un Sultanahmet semtinde, tarihi yarımadada bulunan önemli müzelerden biridir. İstanbul’un en turistik ve en güzel bölgelerinden birinde yer aldığı için ulaşımı oldukça kolaydır. Müze, tarihi yapılarla çevrili bir bölgede bulunduğu için daha girişte bile tarihi bir atmosfer hissedilmektedir.</a:t>
            </a:r>
          </a:p>
          <a:p>
            <a:pPr algn="ctr">
              <a:lnSpc>
                <a:spcPts val="2705"/>
              </a:lnSpc>
              <a:spcBef>
                <a:spcPct val="0"/>
              </a:spcBef>
            </a:pPr>
            <a:r>
              <a:rPr lang="en-US" b="true" sz="1932" spc="-63">
                <a:solidFill>
                  <a:srgbClr val="000000"/>
                </a:solidFill>
                <a:latin typeface="HK Grotesk Bold"/>
                <a:ea typeface="HK Grotesk Bold"/>
                <a:cs typeface="HK Grotesk Bold"/>
                <a:sym typeface="HK Grotesk Bold"/>
              </a:rPr>
              <a:t>Müzede birçok farklı uygarlığa ait eserler sergilenmektedir. Gezerken heykeller, lahitler, taş kabartmalar ve eski yazıtlar gibi birçok tarihi eser görmek mümkündür. Bu eserlerin bazıları binlerce yıl öncesine aittir ve oldukça etkileyicidir. Müze salonları geniş ve düzenlidir, bu yüzden eserleri rahatça incelemek mümkündür.</a:t>
            </a:r>
          </a:p>
          <a:p>
            <a:pPr algn="ctr">
              <a:lnSpc>
                <a:spcPts val="2705"/>
              </a:lnSpc>
              <a:spcBef>
                <a:spcPct val="0"/>
              </a:spcBef>
            </a:pPr>
            <a:r>
              <a:rPr lang="en-US" b="true" sz="1932" spc="-63">
                <a:solidFill>
                  <a:srgbClr val="000000"/>
                </a:solidFill>
                <a:latin typeface="HK Grotesk Bold"/>
                <a:ea typeface="HK Grotesk Bold"/>
                <a:cs typeface="HK Grotesk Bold"/>
                <a:sym typeface="HK Grotesk Bold"/>
              </a:rPr>
              <a:t>Müze genel olarak sakin ve dikkat çekici bir ortama sahiptir. Gezerken insan geçmişte yaşamış uygarlıklar hakkında fikir edinebilir ve tarihle daha yakın bir bağ kurabilir. Bu nedenle müze hem turistler hem de öğrenciler için çok ilgi çekici bir yerdir.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9028984" y="830369"/>
            <a:ext cx="9259016" cy="9250476"/>
            <a:chOff x="0" y="0"/>
            <a:chExt cx="1083589" cy="1082589"/>
          </a:xfrm>
        </p:grpSpPr>
        <p:sp>
          <p:nvSpPr>
            <p:cNvPr name="Freeform 3" id="3"/>
            <p:cNvSpPr/>
            <p:nvPr/>
          </p:nvSpPr>
          <p:spPr>
            <a:xfrm flipH="false" flipV="false" rot="0">
              <a:off x="0" y="0"/>
              <a:ext cx="1083589" cy="1082589"/>
            </a:xfrm>
            <a:custGeom>
              <a:avLst/>
              <a:gdLst/>
              <a:ahLst/>
              <a:cxnLst/>
              <a:rect r="r" b="b" t="t" l="l"/>
              <a:pathLst>
                <a:path h="1082589" w="1083589">
                  <a:moveTo>
                    <a:pt x="0" y="0"/>
                  </a:moveTo>
                  <a:lnTo>
                    <a:pt x="1083589" y="0"/>
                  </a:lnTo>
                  <a:lnTo>
                    <a:pt x="1083589" y="1082589"/>
                  </a:lnTo>
                  <a:lnTo>
                    <a:pt x="0" y="1082589"/>
                  </a:lnTo>
                  <a:close/>
                </a:path>
              </a:pathLst>
            </a:custGeom>
            <a:blipFill>
              <a:blip r:embed="rId2"/>
              <a:stretch>
                <a:fillRect l="0" t="-16728" r="0" b="-16728"/>
              </a:stretch>
            </a:blipFill>
          </p:spPr>
        </p:sp>
      </p:grpSp>
      <p:sp>
        <p:nvSpPr>
          <p:cNvPr name="AutoShape 4" id="4"/>
          <p:cNvSpPr/>
          <p:nvPr/>
        </p:nvSpPr>
        <p:spPr>
          <a:xfrm flipV="true">
            <a:off x="1090613" y="-4038887"/>
            <a:ext cx="0" cy="649224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895964" y="2836581"/>
            <a:ext cx="9574505" cy="1184529"/>
          </a:xfrm>
          <a:prstGeom prst="rect">
            <a:avLst/>
          </a:prstGeom>
        </p:spPr>
        <p:txBody>
          <a:bodyPr anchor="t" rtlCol="false" tIns="0" lIns="0" bIns="0" rIns="0">
            <a:spAutoFit/>
          </a:bodyPr>
          <a:lstStyle/>
          <a:p>
            <a:pPr algn="l">
              <a:lnSpc>
                <a:spcPts val="4368"/>
              </a:lnSpc>
            </a:pPr>
            <a:r>
              <a:rPr lang="en-US" sz="5600" spc="-184" b="true">
                <a:solidFill>
                  <a:srgbClr val="2C160A"/>
                </a:solidFill>
                <a:latin typeface="HK Grotesk Bold"/>
                <a:ea typeface="HK Grotesk Bold"/>
                <a:cs typeface="HK Grotesk Bold"/>
                <a:sym typeface="HK Grotesk Bold"/>
              </a:rPr>
              <a:t>Müzenin</a:t>
            </a:r>
          </a:p>
          <a:p>
            <a:pPr algn="l">
              <a:lnSpc>
                <a:spcPts val="4368"/>
              </a:lnSpc>
            </a:pPr>
            <a:r>
              <a:rPr lang="en-US" sz="5600" spc="-184" b="true">
                <a:solidFill>
                  <a:srgbClr val="2C160A"/>
                </a:solidFill>
                <a:latin typeface="HK Grotesk Bold"/>
                <a:ea typeface="HK Grotesk Bold"/>
                <a:cs typeface="HK Grotesk Bold"/>
                <a:sym typeface="HK Grotesk Bold"/>
              </a:rPr>
              <a:t>           Tarihi</a:t>
            </a:r>
          </a:p>
        </p:txBody>
      </p:sp>
      <p:sp>
        <p:nvSpPr>
          <p:cNvPr name="TextBox 6" id="6"/>
          <p:cNvSpPr txBox="true"/>
          <p:nvPr/>
        </p:nvSpPr>
        <p:spPr>
          <a:xfrm rot="0">
            <a:off x="475633" y="4030635"/>
            <a:ext cx="7610481" cy="6558690"/>
          </a:xfrm>
          <a:prstGeom prst="rect">
            <a:avLst/>
          </a:prstGeom>
        </p:spPr>
        <p:txBody>
          <a:bodyPr anchor="t" rtlCol="false" tIns="0" lIns="0" bIns="0" rIns="0">
            <a:spAutoFit/>
          </a:bodyPr>
          <a:lstStyle/>
          <a:p>
            <a:pPr algn="just">
              <a:lnSpc>
                <a:spcPts val="2063"/>
              </a:lnSpc>
              <a:spcBef>
                <a:spcPct val="0"/>
              </a:spcBef>
            </a:pPr>
          </a:p>
          <a:p>
            <a:pPr algn="just">
              <a:lnSpc>
                <a:spcPts val="2063"/>
              </a:lnSpc>
              <a:spcBef>
                <a:spcPct val="0"/>
              </a:spcBef>
            </a:pPr>
          </a:p>
          <a:p>
            <a:pPr algn="just">
              <a:lnSpc>
                <a:spcPts val="2063"/>
              </a:lnSpc>
              <a:spcBef>
                <a:spcPct val="0"/>
              </a:spcBef>
            </a:pPr>
            <a:r>
              <a:rPr lang="en-US" b="true" sz="1875">
                <a:solidFill>
                  <a:srgbClr val="342121"/>
                </a:solidFill>
                <a:latin typeface="HK Grotesk Bold"/>
                <a:ea typeface="HK Grotesk Bold"/>
                <a:cs typeface="HK Grotesk Bold"/>
                <a:sym typeface="HK Grotesk Bold"/>
              </a:rPr>
              <a:t>İstanbul Arkeoloji Müzeleri’nin temelleri Osmanlı döneminde atılmıştır. 19. yüzyılda Osmanlı topraklarında yapılan arkeolojik kazılarda birçok önemli eser bulunmaya başlanınca bu eserlerin korunması için bir müze kurulması düşünülmüştür.</a:t>
            </a:r>
          </a:p>
          <a:p>
            <a:pPr algn="just">
              <a:lnSpc>
                <a:spcPts val="2063"/>
              </a:lnSpc>
              <a:spcBef>
                <a:spcPct val="0"/>
              </a:spcBef>
            </a:pPr>
            <a:r>
              <a:rPr lang="en-US" b="true" sz="1875">
                <a:solidFill>
                  <a:srgbClr val="342121"/>
                </a:solidFill>
                <a:latin typeface="HK Grotesk Bold"/>
                <a:ea typeface="HK Grotesk Bold"/>
                <a:cs typeface="HK Grotesk Bold"/>
                <a:sym typeface="HK Grotesk Bold"/>
              </a:rPr>
              <a:t> Bu çalışmaların en önemli isimlerinden biri Osman Hamdi Bey’dir. Osman Hamdi Bey hem arkeolog hem de sanatçı olduğu için tarihi eserlerin korunmasına ve sergilenmesine büyük önem vermiştir.</a:t>
            </a:r>
          </a:p>
          <a:p>
            <a:pPr algn="just">
              <a:lnSpc>
                <a:spcPts val="2063"/>
              </a:lnSpc>
              <a:spcBef>
                <a:spcPct val="0"/>
              </a:spcBef>
            </a:pPr>
          </a:p>
          <a:p>
            <a:pPr algn="just">
              <a:lnSpc>
                <a:spcPts val="2063"/>
              </a:lnSpc>
              <a:spcBef>
                <a:spcPct val="0"/>
              </a:spcBef>
            </a:pPr>
            <a:r>
              <a:rPr lang="en-US" b="true" sz="1875">
                <a:solidFill>
                  <a:srgbClr val="342121"/>
                </a:solidFill>
                <a:latin typeface="HK Grotesk Bold"/>
                <a:ea typeface="HK Grotesk Bold"/>
                <a:cs typeface="HK Grotesk Bold"/>
                <a:sym typeface="HK Grotesk Bold"/>
              </a:rPr>
              <a:t>Osman Hamdi Bey’in çalışmaları sayesinde müzenin bugünkü ana binası yaptırılmış ve 1891 yılında ziyarete açılmıştır. O dönemde yapılan kazılardan çıkarılan birçok önemli eser bu müzeye getirilmiştir. Özellikle Sidon’da yapılan kazılarda bulunan lahitler müzenin en önemli eserleri arasında yer almıştır. Zamanla müzeye yeni eserler eklenmiş ve müze koleksiyonu giderek büyümüştür.</a:t>
            </a:r>
          </a:p>
          <a:p>
            <a:pPr algn="just">
              <a:lnSpc>
                <a:spcPts val="2063"/>
              </a:lnSpc>
              <a:spcBef>
                <a:spcPct val="0"/>
              </a:spcBef>
            </a:pPr>
          </a:p>
          <a:p>
            <a:pPr algn="just">
              <a:lnSpc>
                <a:spcPts val="2063"/>
              </a:lnSpc>
              <a:spcBef>
                <a:spcPct val="0"/>
              </a:spcBef>
            </a:pPr>
            <a:r>
              <a:rPr lang="en-US" b="true" sz="1875">
                <a:solidFill>
                  <a:srgbClr val="342121"/>
                </a:solidFill>
                <a:latin typeface="HK Grotesk Bold"/>
                <a:ea typeface="HK Grotesk Bold"/>
                <a:cs typeface="HK Grotesk Bold"/>
                <a:sym typeface="HK Grotesk Bold"/>
              </a:rPr>
              <a:t>Daha sonra müze kompleksi genişletilmiş ve farklı binalar eklenmiştir. Böylece hem Anadolu’dan hem de Mezopotamya ve diğer eski uygarlıklardan gelen eserler burada sergilenmeye başlanmıştır. Günümüzde İstanbul Arkeoloji Müzeleri, Türkiye’nin en köklü müzelerinden biri olarak kabul edilmekte ve binlerce yıllık tarihi eserleri ziyaretçilere sunmaktadır.</a:t>
            </a:r>
          </a:p>
          <a:p>
            <a:pPr algn="just">
              <a:lnSpc>
                <a:spcPts val="2063"/>
              </a:lnSpc>
              <a:spcBef>
                <a:spcPct val="0"/>
              </a:spcBef>
            </a:pPr>
          </a:p>
          <a:p>
            <a:pPr algn="just">
              <a:lnSpc>
                <a:spcPts val="2063"/>
              </a:lnSpc>
              <a:spcBef>
                <a:spcPct val="0"/>
              </a:spcBef>
            </a:pPr>
          </a:p>
        </p:txBody>
      </p:sp>
      <p:sp>
        <p:nvSpPr>
          <p:cNvPr name="TextBox 7" id="7"/>
          <p:cNvSpPr txBox="true"/>
          <p:nvPr/>
        </p:nvSpPr>
        <p:spPr>
          <a:xfrm rot="0">
            <a:off x="1414876" y="1373294"/>
            <a:ext cx="3530565" cy="1538796"/>
          </a:xfrm>
          <a:prstGeom prst="rect">
            <a:avLst/>
          </a:prstGeom>
        </p:spPr>
        <p:txBody>
          <a:bodyPr anchor="t" rtlCol="false" tIns="0" lIns="0" bIns="0" rIns="0">
            <a:spAutoFit/>
          </a:bodyPr>
          <a:lstStyle/>
          <a:p>
            <a:pPr algn="l">
              <a:lnSpc>
                <a:spcPts val="10662"/>
              </a:lnSpc>
            </a:pPr>
            <a:r>
              <a:rPr lang="en-US" sz="13670" spc="423" b="true">
                <a:solidFill>
                  <a:srgbClr val="8E5021">
                    <a:alpha val="35686"/>
                  </a:srgbClr>
                </a:solidFill>
                <a:latin typeface="HK Grotesk Bold"/>
                <a:ea typeface="HK Grotesk Bold"/>
                <a:cs typeface="HK Grotesk Bold"/>
                <a:sym typeface="HK Grotesk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sp>
        <p:nvSpPr>
          <p:cNvPr name="AutoShape 2" id="2"/>
          <p:cNvSpPr/>
          <p:nvPr/>
        </p:nvSpPr>
        <p:spPr>
          <a:xfrm>
            <a:off x="5842582" y="1686539"/>
            <a:ext cx="16634369" cy="0"/>
          </a:xfrm>
          <a:prstGeom prst="line">
            <a:avLst/>
          </a:prstGeom>
          <a:ln cap="flat" w="85725">
            <a:solidFill>
              <a:srgbClr val="8E5021"/>
            </a:solidFill>
            <a:prstDash val="solid"/>
            <a:headEnd type="none" len="sm" w="sm"/>
            <a:tailEnd type="none" len="sm" w="sm"/>
          </a:ln>
        </p:spPr>
      </p:sp>
      <p:grpSp>
        <p:nvGrpSpPr>
          <p:cNvPr name="Group 3" id="3"/>
          <p:cNvGrpSpPr/>
          <p:nvPr/>
        </p:nvGrpSpPr>
        <p:grpSpPr>
          <a:xfrm rot="0">
            <a:off x="586246" y="3192969"/>
            <a:ext cx="9210998" cy="6065331"/>
            <a:chOff x="0" y="0"/>
            <a:chExt cx="1427025" cy="939679"/>
          </a:xfrm>
        </p:grpSpPr>
        <p:sp>
          <p:nvSpPr>
            <p:cNvPr name="Freeform 4" id="4"/>
            <p:cNvSpPr/>
            <p:nvPr/>
          </p:nvSpPr>
          <p:spPr>
            <a:xfrm flipH="false" flipV="false" rot="0">
              <a:off x="0" y="0"/>
              <a:ext cx="1427025" cy="939678"/>
            </a:xfrm>
            <a:custGeom>
              <a:avLst/>
              <a:gdLst/>
              <a:ahLst/>
              <a:cxnLst/>
              <a:rect r="r" b="b" t="t" l="l"/>
              <a:pathLst>
                <a:path h="939678" w="1427025">
                  <a:moveTo>
                    <a:pt x="0" y="0"/>
                  </a:moveTo>
                  <a:lnTo>
                    <a:pt x="1427025" y="0"/>
                  </a:lnTo>
                  <a:lnTo>
                    <a:pt x="1427025" y="939678"/>
                  </a:lnTo>
                  <a:lnTo>
                    <a:pt x="0" y="939678"/>
                  </a:lnTo>
                  <a:close/>
                </a:path>
              </a:pathLst>
            </a:custGeom>
            <a:blipFill>
              <a:blip r:embed="rId2"/>
              <a:stretch>
                <a:fillRect l="0" t="-51242" r="0" b="-51242"/>
              </a:stretch>
            </a:blipFill>
          </p:spPr>
        </p:sp>
      </p:grpSp>
      <p:sp>
        <p:nvSpPr>
          <p:cNvPr name="TextBox 5" id="5"/>
          <p:cNvSpPr txBox="true"/>
          <p:nvPr/>
        </p:nvSpPr>
        <p:spPr>
          <a:xfrm rot="0">
            <a:off x="10839693" y="1948476"/>
            <a:ext cx="6640147" cy="2289429"/>
          </a:xfrm>
          <a:prstGeom prst="rect">
            <a:avLst/>
          </a:prstGeom>
        </p:spPr>
        <p:txBody>
          <a:bodyPr anchor="t" rtlCol="false" tIns="0" lIns="0" bIns="0" rIns="0">
            <a:spAutoFit/>
          </a:bodyPr>
          <a:lstStyle/>
          <a:p>
            <a:pPr algn="l">
              <a:lnSpc>
                <a:spcPts val="4368"/>
              </a:lnSpc>
            </a:pPr>
            <a:r>
              <a:rPr lang="en-US" sz="5600" spc="-184" b="true">
                <a:solidFill>
                  <a:srgbClr val="2C160A"/>
                </a:solidFill>
                <a:latin typeface="HK Grotesk Bold"/>
                <a:ea typeface="HK Grotesk Bold"/>
                <a:cs typeface="HK Grotesk Bold"/>
                <a:sym typeface="HK Grotesk Bold"/>
              </a:rPr>
              <a:t>Müze</a:t>
            </a:r>
          </a:p>
          <a:p>
            <a:pPr algn="l">
              <a:lnSpc>
                <a:spcPts val="4368"/>
              </a:lnSpc>
            </a:pPr>
            <a:r>
              <a:rPr lang="en-US" sz="5600" spc="-184" b="true">
                <a:solidFill>
                  <a:srgbClr val="2C160A"/>
                </a:solidFill>
                <a:latin typeface="HK Grotesk Bold"/>
                <a:ea typeface="HK Grotesk Bold"/>
                <a:cs typeface="HK Grotesk Bold"/>
                <a:sym typeface="HK Grotesk Bold"/>
              </a:rPr>
              <a:t>      Kompleksi</a:t>
            </a:r>
          </a:p>
          <a:p>
            <a:pPr algn="l">
              <a:lnSpc>
                <a:spcPts val="4368"/>
              </a:lnSpc>
            </a:pPr>
            <a:r>
              <a:rPr lang="en-US" sz="5600" spc="-184" b="true">
                <a:solidFill>
                  <a:srgbClr val="2C160A"/>
                </a:solidFill>
                <a:latin typeface="HK Grotesk Bold"/>
                <a:ea typeface="HK Grotesk Bold"/>
                <a:cs typeface="HK Grotesk Bold"/>
                <a:sym typeface="HK Grotesk Bold"/>
              </a:rPr>
              <a:t>                  ve </a:t>
            </a:r>
          </a:p>
          <a:p>
            <a:pPr algn="l">
              <a:lnSpc>
                <a:spcPts val="4368"/>
              </a:lnSpc>
            </a:pPr>
            <a:r>
              <a:rPr lang="en-US" sz="5600" spc="-184" b="true">
                <a:solidFill>
                  <a:srgbClr val="2C160A"/>
                </a:solidFill>
                <a:latin typeface="HK Grotesk Bold"/>
                <a:ea typeface="HK Grotesk Bold"/>
                <a:cs typeface="HK Grotesk Bold"/>
                <a:sym typeface="HK Grotesk Bold"/>
              </a:rPr>
              <a:t>                      Bölümleri</a:t>
            </a:r>
          </a:p>
        </p:txBody>
      </p:sp>
      <p:sp>
        <p:nvSpPr>
          <p:cNvPr name="TextBox 6" id="6"/>
          <p:cNvSpPr txBox="true"/>
          <p:nvPr/>
        </p:nvSpPr>
        <p:spPr>
          <a:xfrm rot="0">
            <a:off x="11127441" y="4357117"/>
            <a:ext cx="6751294" cy="4761108"/>
          </a:xfrm>
          <a:prstGeom prst="rect">
            <a:avLst/>
          </a:prstGeom>
        </p:spPr>
        <p:txBody>
          <a:bodyPr anchor="t" rtlCol="false" tIns="0" lIns="0" bIns="0" rIns="0">
            <a:spAutoFit/>
          </a:bodyPr>
          <a:lstStyle/>
          <a:p>
            <a:pPr algn="just">
              <a:lnSpc>
                <a:spcPts val="2199"/>
              </a:lnSpc>
              <a:spcBef>
                <a:spcPct val="0"/>
              </a:spcBef>
            </a:pPr>
            <a:r>
              <a:rPr lang="en-US" b="true" sz="1999">
                <a:solidFill>
                  <a:srgbClr val="342121"/>
                </a:solidFill>
                <a:latin typeface="HK Grotesk Bold"/>
                <a:ea typeface="HK Grotesk Bold"/>
                <a:cs typeface="HK Grotesk Bold"/>
                <a:sym typeface="HK Grotesk Bold"/>
              </a:rPr>
              <a:t>B</a:t>
            </a:r>
            <a:r>
              <a:rPr lang="en-US" b="true" sz="1999">
                <a:solidFill>
                  <a:srgbClr val="342121"/>
                </a:solidFill>
                <a:latin typeface="HK Grotesk Bold"/>
                <a:ea typeface="HK Grotesk Bold"/>
                <a:cs typeface="HK Grotesk Bold"/>
                <a:sym typeface="HK Grotesk Bold"/>
              </a:rPr>
              <a:t>en gezim sırasında sadece Arkeoloji Müzesi bölümünde bulundum. Burası müzenin en büyük binası ve en çok eserin sergilendiği yer. Anadolu, Mezopotamya, Antik Yunan ve Roma uygarlıklarına ait lahitler, heykeller ve taş kabartmalar bu bölümde yer alıyor.</a:t>
            </a:r>
          </a:p>
          <a:p>
            <a:pPr algn="just">
              <a:lnSpc>
                <a:spcPts val="2199"/>
              </a:lnSpc>
              <a:spcBef>
                <a:spcPct val="0"/>
              </a:spcBef>
            </a:pPr>
            <a:r>
              <a:rPr lang="en-US" b="true" sz="1999">
                <a:solidFill>
                  <a:srgbClr val="342121"/>
                </a:solidFill>
                <a:latin typeface="HK Grotesk Bold"/>
                <a:ea typeface="HK Grotesk Bold"/>
                <a:cs typeface="HK Grotesk Bold"/>
                <a:sym typeface="HK Grotesk Bold"/>
              </a:rPr>
              <a:t>Müzenin diğer bölümleri ise şunlardır:</a:t>
            </a:r>
          </a:p>
          <a:p>
            <a:pPr algn="just" marL="431782" indent="-215891" lvl="1">
              <a:lnSpc>
                <a:spcPts val="2199"/>
              </a:lnSpc>
              <a:spcBef>
                <a:spcPct val="0"/>
              </a:spcBef>
              <a:buFont typeface="Arial"/>
              <a:buChar char="•"/>
            </a:pPr>
            <a:r>
              <a:rPr lang="en-US" b="true" sz="1999">
                <a:solidFill>
                  <a:srgbClr val="342121"/>
                </a:solidFill>
                <a:latin typeface="HK Grotesk Bold"/>
                <a:ea typeface="HK Grotesk Bold"/>
                <a:cs typeface="HK Grotesk Bold"/>
                <a:sym typeface="HK Grotesk Bold"/>
              </a:rPr>
              <a:t>Eski Şark Eserleri Müzesi: Mezopotamya ve Yakın Doğu eserleri bulunur.</a:t>
            </a:r>
          </a:p>
          <a:p>
            <a:pPr algn="just" marL="431782" indent="-215891" lvl="1">
              <a:lnSpc>
                <a:spcPts val="2199"/>
              </a:lnSpc>
              <a:spcBef>
                <a:spcPct val="0"/>
              </a:spcBef>
              <a:buFont typeface="Arial"/>
              <a:buChar char="•"/>
            </a:pPr>
            <a:r>
              <a:rPr lang="en-US" b="true" sz="1999">
                <a:solidFill>
                  <a:srgbClr val="342121"/>
                </a:solidFill>
                <a:latin typeface="HK Grotesk Bold"/>
                <a:ea typeface="HK Grotesk Bold"/>
                <a:cs typeface="HK Grotesk Bold"/>
                <a:sym typeface="HK Grotesk Bold"/>
              </a:rPr>
              <a:t>Çinili Köşk Müzesi: Osmanlı çini ve seramik eserleri sergilenir.</a:t>
            </a:r>
          </a:p>
          <a:p>
            <a:pPr algn="just">
              <a:lnSpc>
                <a:spcPts val="2199"/>
              </a:lnSpc>
              <a:spcBef>
                <a:spcPct val="0"/>
              </a:spcBef>
            </a:pPr>
            <a:r>
              <a:rPr lang="en-US" b="true" sz="1999">
                <a:solidFill>
                  <a:srgbClr val="342121"/>
                </a:solidFill>
                <a:latin typeface="HK Grotesk Bold"/>
                <a:ea typeface="HK Grotesk Bold"/>
                <a:cs typeface="HK Grotesk Bold"/>
                <a:sym typeface="HK Grotesk Bold"/>
              </a:rPr>
              <a:t>Arkeoloji Müzesi’nde salonlar geniş ve uzun koridorlar şeklinde düzenlenmiş. Eserler arası yürüyerek geçmek kolay ve her bölümde farklı uygarlıklara ait eserleri görmek mümkün. Bu bölümde dolaşırken eserlerin büyüklüğü ve detayları dikkat çekiyor, özellikle lahitler ve heykeller oldukça etkileyici görünüyor.</a:t>
            </a:r>
          </a:p>
          <a:p>
            <a:pPr algn="just">
              <a:lnSpc>
                <a:spcPts val="2199"/>
              </a:lnSpc>
              <a:spcBef>
                <a:spcPct val="0"/>
              </a:spcBef>
            </a:pPr>
          </a:p>
        </p:txBody>
      </p:sp>
      <p:sp>
        <p:nvSpPr>
          <p:cNvPr name="TextBox 7" id="7"/>
          <p:cNvSpPr txBox="true"/>
          <p:nvPr/>
        </p:nvSpPr>
        <p:spPr>
          <a:xfrm rot="0">
            <a:off x="1028700" y="1231466"/>
            <a:ext cx="2503850" cy="1538796"/>
          </a:xfrm>
          <a:prstGeom prst="rect">
            <a:avLst/>
          </a:prstGeom>
        </p:spPr>
        <p:txBody>
          <a:bodyPr anchor="t" rtlCol="false" tIns="0" lIns="0" bIns="0" rIns="0">
            <a:spAutoFit/>
          </a:bodyPr>
          <a:lstStyle/>
          <a:p>
            <a:pPr algn="r">
              <a:lnSpc>
                <a:spcPts val="10662"/>
              </a:lnSpc>
            </a:pPr>
            <a:r>
              <a:rPr lang="en-US" b="true" sz="13670" spc="423">
                <a:solidFill>
                  <a:srgbClr val="8E5021">
                    <a:alpha val="35686"/>
                  </a:srgbClr>
                </a:solidFill>
                <a:latin typeface="HK Grotesk Bold"/>
                <a:ea typeface="HK Grotesk Bold"/>
                <a:cs typeface="HK Grotesk Bold"/>
                <a:sym typeface="HK Grotesk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8878528" y="107691"/>
            <a:ext cx="8115300" cy="10071617"/>
            <a:chOff x="0" y="0"/>
            <a:chExt cx="1257272" cy="1560357"/>
          </a:xfrm>
        </p:grpSpPr>
        <p:sp>
          <p:nvSpPr>
            <p:cNvPr name="Freeform 3" id="3"/>
            <p:cNvSpPr/>
            <p:nvPr/>
          </p:nvSpPr>
          <p:spPr>
            <a:xfrm flipH="false" flipV="false" rot="0">
              <a:off x="0" y="0"/>
              <a:ext cx="1257272" cy="1560357"/>
            </a:xfrm>
            <a:custGeom>
              <a:avLst/>
              <a:gdLst/>
              <a:ahLst/>
              <a:cxnLst/>
              <a:rect r="r" b="b" t="t" l="l"/>
              <a:pathLst>
                <a:path h="1560357" w="1257272">
                  <a:moveTo>
                    <a:pt x="0" y="0"/>
                  </a:moveTo>
                  <a:lnTo>
                    <a:pt x="1257272" y="0"/>
                  </a:lnTo>
                  <a:lnTo>
                    <a:pt x="1257272" y="1560357"/>
                  </a:lnTo>
                  <a:lnTo>
                    <a:pt x="0" y="1560357"/>
                  </a:lnTo>
                  <a:close/>
                </a:path>
              </a:pathLst>
            </a:custGeom>
            <a:blipFill>
              <a:blip r:embed="rId2"/>
              <a:stretch>
                <a:fillRect l="0" t="-3717" r="0" b="-3717"/>
              </a:stretch>
            </a:blipFill>
          </p:spPr>
        </p:sp>
      </p:grpSp>
      <p:sp>
        <p:nvSpPr>
          <p:cNvPr name="AutoShape 4" id="4"/>
          <p:cNvSpPr/>
          <p:nvPr/>
        </p:nvSpPr>
        <p:spPr>
          <a:xfrm flipV="true">
            <a:off x="1152522" y="-3980602"/>
            <a:ext cx="0" cy="616096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1028700" y="2532242"/>
            <a:ext cx="6290130" cy="1712595"/>
          </a:xfrm>
          <a:prstGeom prst="rect">
            <a:avLst/>
          </a:prstGeom>
        </p:spPr>
        <p:txBody>
          <a:bodyPr anchor="t" rtlCol="false" tIns="0" lIns="0" bIns="0" rIns="0">
            <a:spAutoFit/>
          </a:bodyPr>
          <a:lstStyle/>
          <a:p>
            <a:pPr algn="l">
              <a:lnSpc>
                <a:spcPts val="4368"/>
              </a:lnSpc>
            </a:pPr>
            <a:r>
              <a:rPr lang="en-US" sz="5600" spc="-184" b="true">
                <a:solidFill>
                  <a:srgbClr val="2C160A"/>
                </a:solidFill>
                <a:latin typeface="HK Grotesk Bold"/>
                <a:ea typeface="HK Grotesk Bold"/>
                <a:cs typeface="HK Grotesk Bold"/>
                <a:sym typeface="HK Grotesk Bold"/>
              </a:rPr>
              <a:t>Müzedeki</a:t>
            </a:r>
          </a:p>
          <a:p>
            <a:pPr algn="l">
              <a:lnSpc>
                <a:spcPts val="4368"/>
              </a:lnSpc>
            </a:pPr>
            <a:r>
              <a:rPr lang="en-US" sz="5600" spc="-184" b="true">
                <a:solidFill>
                  <a:srgbClr val="2C160A"/>
                </a:solidFill>
                <a:latin typeface="HK Grotesk Bold"/>
                <a:ea typeface="HK Grotesk Bold"/>
                <a:cs typeface="HK Grotesk Bold"/>
                <a:sym typeface="HK Grotesk Bold"/>
              </a:rPr>
              <a:t>              Dönemler</a:t>
            </a:r>
          </a:p>
          <a:p>
            <a:pPr algn="l">
              <a:lnSpc>
                <a:spcPts val="4212"/>
              </a:lnSpc>
            </a:pPr>
            <a:r>
              <a:rPr lang="en-US" sz="5400" spc="-178" b="true">
                <a:solidFill>
                  <a:srgbClr val="2C160A"/>
                </a:solidFill>
                <a:latin typeface="HK Grotesk Bold"/>
                <a:ea typeface="HK Grotesk Bold"/>
                <a:cs typeface="HK Grotesk Bold"/>
                <a:sym typeface="HK Grotesk Bold"/>
              </a:rPr>
              <a:t>  </a:t>
            </a:r>
          </a:p>
        </p:txBody>
      </p:sp>
      <p:sp>
        <p:nvSpPr>
          <p:cNvPr name="TextBox 6" id="6"/>
          <p:cNvSpPr txBox="true"/>
          <p:nvPr/>
        </p:nvSpPr>
        <p:spPr>
          <a:xfrm rot="0">
            <a:off x="796412" y="3584451"/>
            <a:ext cx="7108670" cy="4815478"/>
          </a:xfrm>
          <a:prstGeom prst="rect">
            <a:avLst/>
          </a:prstGeom>
        </p:spPr>
        <p:txBody>
          <a:bodyPr anchor="t" rtlCol="false" tIns="0" lIns="0" bIns="0" rIns="0">
            <a:spAutoFit/>
          </a:bodyPr>
          <a:lstStyle/>
          <a:p>
            <a:pPr algn="just">
              <a:lnSpc>
                <a:spcPts val="2113"/>
              </a:lnSpc>
              <a:spcBef>
                <a:spcPct val="0"/>
              </a:spcBef>
            </a:pPr>
            <a:r>
              <a:rPr lang="en-US" b="true" sz="1921">
                <a:solidFill>
                  <a:srgbClr val="342121"/>
                </a:solidFill>
                <a:latin typeface="HK Grotesk Bold"/>
                <a:ea typeface="HK Grotesk Bold"/>
                <a:cs typeface="HK Grotesk Bold"/>
                <a:sym typeface="HK Grotesk Bold"/>
              </a:rPr>
              <a:t>İ</a:t>
            </a:r>
            <a:r>
              <a:rPr lang="en-US" b="true" sz="1921">
                <a:solidFill>
                  <a:srgbClr val="342121"/>
                </a:solidFill>
                <a:latin typeface="HK Grotesk Bold"/>
                <a:ea typeface="HK Grotesk Bold"/>
                <a:cs typeface="HK Grotesk Bold"/>
                <a:sym typeface="HK Grotesk Bold"/>
              </a:rPr>
              <a:t>stanbul Arkeoloji Müzesi’nde eserler dönemlere göre ayrılmış şekilde sergileniyor.</a:t>
            </a:r>
          </a:p>
          <a:p>
            <a:pPr algn="just" marL="414852" indent="-207426" lvl="1">
              <a:lnSpc>
                <a:spcPts val="2113"/>
              </a:lnSpc>
              <a:spcBef>
                <a:spcPct val="0"/>
              </a:spcBef>
              <a:buAutoNum type="arabicPeriod" startAt="1"/>
            </a:pPr>
            <a:r>
              <a:rPr lang="en-US" b="true" sz="1921">
                <a:solidFill>
                  <a:srgbClr val="342121"/>
                </a:solidFill>
                <a:latin typeface="HK Grotesk Bold"/>
                <a:ea typeface="HK Grotesk Bold"/>
                <a:cs typeface="HK Grotesk Bold"/>
                <a:sym typeface="HK Grotesk Bold"/>
              </a:rPr>
              <a:t>Mezopotamya Dönemi: Asur, Babil ve Pers uygarlıklarından kalma tabletler, kabartmalar ve heykeller bulunuyor. Yazıtlar dönemin kültürü hakkında bilgi veriyor.</a:t>
            </a:r>
          </a:p>
          <a:p>
            <a:pPr algn="just" marL="414852" indent="-207426" lvl="1">
              <a:lnSpc>
                <a:spcPts val="2113"/>
              </a:lnSpc>
              <a:spcBef>
                <a:spcPct val="0"/>
              </a:spcBef>
              <a:buAutoNum type="arabicPeriod" startAt="1"/>
            </a:pPr>
            <a:r>
              <a:rPr lang="en-US" b="true" sz="1921">
                <a:solidFill>
                  <a:srgbClr val="342121"/>
                </a:solidFill>
                <a:latin typeface="HK Grotesk Bold"/>
                <a:ea typeface="HK Grotesk Bold"/>
                <a:cs typeface="HK Grotesk Bold"/>
                <a:sym typeface="HK Grotesk Bold"/>
              </a:rPr>
              <a:t>Anadolu Uygarlıkları: Hitit ve Frig uygarlıklarına ait lahitler ve taş heykeller sergileniyor. Detaylı kabartmalar özellikle dikkat çekiyor.</a:t>
            </a:r>
          </a:p>
          <a:p>
            <a:pPr algn="just" marL="414852" indent="-207426" lvl="1">
              <a:lnSpc>
                <a:spcPts val="2113"/>
              </a:lnSpc>
              <a:spcBef>
                <a:spcPct val="0"/>
              </a:spcBef>
              <a:buAutoNum type="arabicPeriod" startAt="1"/>
            </a:pPr>
            <a:r>
              <a:rPr lang="en-US" b="true" sz="1921">
                <a:solidFill>
                  <a:srgbClr val="342121"/>
                </a:solidFill>
                <a:latin typeface="HK Grotesk Bold"/>
                <a:ea typeface="HK Grotesk Bold"/>
                <a:cs typeface="HK Grotesk Bold"/>
                <a:sym typeface="HK Grotesk Bold"/>
              </a:rPr>
              <a:t>Antik Yunan Dönemi: Heykeller, vazolar ve kabartmalarla mitolojik sahneler ve insan figürleri ön plana çıkıyor.</a:t>
            </a:r>
          </a:p>
          <a:p>
            <a:pPr algn="just" marL="414852" indent="-207426" lvl="1">
              <a:lnSpc>
                <a:spcPts val="2113"/>
              </a:lnSpc>
              <a:spcBef>
                <a:spcPct val="0"/>
              </a:spcBef>
              <a:buAutoNum type="arabicPeriod" startAt="1"/>
            </a:pPr>
            <a:r>
              <a:rPr lang="en-US" b="true" sz="1921">
                <a:solidFill>
                  <a:srgbClr val="342121"/>
                </a:solidFill>
                <a:latin typeface="HK Grotesk Bold"/>
                <a:ea typeface="HK Grotesk Bold"/>
                <a:cs typeface="HK Grotesk Bold"/>
                <a:sym typeface="HK Grotesk Bold"/>
              </a:rPr>
              <a:t>Roma Dönemi: Büyük lahitler ve heykeller ile taş kabartmalar dönemin yaşamını ve sanat anlayışını gösteriyor.</a:t>
            </a:r>
          </a:p>
          <a:p>
            <a:pPr algn="just" marL="414852" indent="-207426" lvl="1">
              <a:lnSpc>
                <a:spcPts val="2113"/>
              </a:lnSpc>
              <a:spcBef>
                <a:spcPct val="0"/>
              </a:spcBef>
              <a:buAutoNum type="arabicPeriod" startAt="1"/>
            </a:pPr>
            <a:r>
              <a:rPr lang="en-US" b="true" sz="1921">
                <a:solidFill>
                  <a:srgbClr val="342121"/>
                </a:solidFill>
                <a:latin typeface="HK Grotesk Bold"/>
                <a:ea typeface="HK Grotesk Bold"/>
                <a:cs typeface="HK Grotesk Bold"/>
                <a:sym typeface="HK Grotesk Bold"/>
              </a:rPr>
              <a:t>Bizans Dönemi: Mozaikler, ikonalar ve taş işçilikleri ile Bizans’ın dini ve kültürel yaşamına dair örnekler sergileniyor.</a:t>
            </a:r>
          </a:p>
          <a:p>
            <a:pPr algn="just">
              <a:lnSpc>
                <a:spcPts val="2113"/>
              </a:lnSpc>
              <a:spcBef>
                <a:spcPct val="0"/>
              </a:spcBef>
            </a:pPr>
            <a:r>
              <a:rPr lang="en-US" b="true" sz="1921">
                <a:solidFill>
                  <a:srgbClr val="342121"/>
                </a:solidFill>
                <a:latin typeface="HK Grotesk Bold"/>
                <a:ea typeface="HK Grotesk Bold"/>
                <a:cs typeface="HK Grotesk Bold"/>
                <a:sym typeface="HK Grotesk Bold"/>
              </a:rPr>
              <a:t>Her dönemin eserleri kendi bölümlerinde toplandığı için ziyaretçiler farklı uygarlıkları karşılaştırabiliyor ve tarih boyunca sanatın nasıl değiştiğini görebiliyor.</a:t>
            </a:r>
          </a:p>
          <a:p>
            <a:pPr algn="just">
              <a:lnSpc>
                <a:spcPts val="2113"/>
              </a:lnSpc>
              <a:spcBef>
                <a:spcPct val="0"/>
              </a:spcBef>
            </a:pPr>
          </a:p>
        </p:txBody>
      </p:sp>
      <p:sp>
        <p:nvSpPr>
          <p:cNvPr name="TextBox 7" id="7"/>
          <p:cNvSpPr txBox="true"/>
          <p:nvPr/>
        </p:nvSpPr>
        <p:spPr>
          <a:xfrm rot="0">
            <a:off x="1359707" y="622041"/>
            <a:ext cx="3334329" cy="1447930"/>
          </a:xfrm>
          <a:prstGeom prst="rect">
            <a:avLst/>
          </a:prstGeom>
        </p:spPr>
        <p:txBody>
          <a:bodyPr anchor="t" rtlCol="false" tIns="0" lIns="0" bIns="0" rIns="0">
            <a:spAutoFit/>
          </a:bodyPr>
          <a:lstStyle/>
          <a:p>
            <a:pPr algn="l">
              <a:lnSpc>
                <a:spcPts val="10070"/>
              </a:lnSpc>
            </a:pPr>
            <a:r>
              <a:rPr lang="en-US" sz="12910" spc="-426" b="true">
                <a:solidFill>
                  <a:srgbClr val="8E5021">
                    <a:alpha val="35686"/>
                  </a:srgbClr>
                </a:solidFill>
                <a:latin typeface="HK Grotesk Bold"/>
                <a:ea typeface="HK Grotesk Bold"/>
                <a:cs typeface="HK Grotesk Bold"/>
                <a:sym typeface="HK Grotesk Bold"/>
              </a:rPr>
              <a:t>04</a:t>
            </a:r>
          </a:p>
        </p:txBody>
      </p:sp>
      <p:sp>
        <p:nvSpPr>
          <p:cNvPr name="TextBox 8" id="8"/>
          <p:cNvSpPr txBox="true"/>
          <p:nvPr/>
        </p:nvSpPr>
        <p:spPr>
          <a:xfrm rot="0">
            <a:off x="191765" y="8318700"/>
            <a:ext cx="8686762" cy="1841099"/>
          </a:xfrm>
          <a:prstGeom prst="rect">
            <a:avLst/>
          </a:prstGeom>
        </p:spPr>
        <p:txBody>
          <a:bodyPr anchor="t" rtlCol="false" tIns="0" lIns="0" bIns="0" rIns="0">
            <a:spAutoFit/>
          </a:bodyPr>
          <a:lstStyle/>
          <a:p>
            <a:pPr algn="ctr">
              <a:lnSpc>
                <a:spcPts val="2997"/>
              </a:lnSpc>
              <a:spcBef>
                <a:spcPct val="0"/>
              </a:spcBef>
            </a:pPr>
            <a:r>
              <a:rPr lang="en-US" b="true" sz="2140" spc="-70">
                <a:solidFill>
                  <a:srgbClr val="000000">
                    <a:alpha val="68627"/>
                  </a:srgbClr>
                </a:solidFill>
                <a:latin typeface="HK Grotesk Bold"/>
                <a:ea typeface="HK Grotesk Bold"/>
                <a:cs typeface="HK Grotesk Bold"/>
                <a:sym typeface="HK Grotesk Bold"/>
              </a:rPr>
              <a:t>Yan tarafta benim kameramdan gördüğünüz heykel,Roma Dönemi: Toga Giymiş Erkek Heykelidir. Çok dikkatimi çekmişti çünkü toga giyen erkek figürleri genelde yaşlı ve bilgili insanların motif ve heykelleri olur.Fakat bu daha gençti.Bence bu da İstanbul Arkeoloji Müzesinin arkeoloji bakımından çeşitliliğini gösteriyor.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sp>
        <p:nvSpPr>
          <p:cNvPr name="AutoShape 2" id="2"/>
          <p:cNvSpPr/>
          <p:nvPr/>
        </p:nvSpPr>
        <p:spPr>
          <a:xfrm>
            <a:off x="-1353143" y="1567963"/>
            <a:ext cx="11335745" cy="0"/>
          </a:xfrm>
          <a:prstGeom prst="line">
            <a:avLst/>
          </a:prstGeom>
          <a:ln cap="flat" w="85725">
            <a:solidFill>
              <a:srgbClr val="8E5021"/>
            </a:solidFill>
            <a:prstDash val="solid"/>
            <a:headEnd type="none" len="sm" w="sm"/>
            <a:tailEnd type="none" len="sm" w="sm"/>
          </a:ln>
        </p:spPr>
      </p:sp>
      <p:grpSp>
        <p:nvGrpSpPr>
          <p:cNvPr name="Group 3" id="3"/>
          <p:cNvGrpSpPr/>
          <p:nvPr/>
        </p:nvGrpSpPr>
        <p:grpSpPr>
          <a:xfrm rot="0">
            <a:off x="8935854" y="1794960"/>
            <a:ext cx="9164108" cy="8216530"/>
            <a:chOff x="0" y="0"/>
            <a:chExt cx="1586090" cy="1422086"/>
          </a:xfrm>
        </p:grpSpPr>
        <p:sp>
          <p:nvSpPr>
            <p:cNvPr name="Freeform 4" id="4"/>
            <p:cNvSpPr/>
            <p:nvPr/>
          </p:nvSpPr>
          <p:spPr>
            <a:xfrm flipH="false" flipV="false" rot="0">
              <a:off x="0" y="0"/>
              <a:ext cx="1586090" cy="1422086"/>
            </a:xfrm>
            <a:custGeom>
              <a:avLst/>
              <a:gdLst/>
              <a:ahLst/>
              <a:cxnLst/>
              <a:rect r="r" b="b" t="t" l="l"/>
              <a:pathLst>
                <a:path h="1422086" w="1586090">
                  <a:moveTo>
                    <a:pt x="0" y="0"/>
                  </a:moveTo>
                  <a:lnTo>
                    <a:pt x="1586090" y="0"/>
                  </a:lnTo>
                  <a:lnTo>
                    <a:pt x="1586090" y="1422086"/>
                  </a:lnTo>
                  <a:lnTo>
                    <a:pt x="0" y="1422086"/>
                  </a:lnTo>
                  <a:close/>
                </a:path>
              </a:pathLst>
            </a:custGeom>
            <a:blipFill>
              <a:blip r:embed="rId2"/>
              <a:stretch>
                <a:fillRect l="0" t="-24355" r="0" b="-24355"/>
              </a:stretch>
            </a:blipFill>
          </p:spPr>
        </p:sp>
      </p:grpSp>
      <p:sp>
        <p:nvSpPr>
          <p:cNvPr name="TextBox 5" id="5"/>
          <p:cNvSpPr txBox="true"/>
          <p:nvPr/>
        </p:nvSpPr>
        <p:spPr>
          <a:xfrm rot="0">
            <a:off x="247135" y="1787038"/>
            <a:ext cx="8255307" cy="2289429"/>
          </a:xfrm>
          <a:prstGeom prst="rect">
            <a:avLst/>
          </a:prstGeom>
        </p:spPr>
        <p:txBody>
          <a:bodyPr anchor="t" rtlCol="false" tIns="0" lIns="0" bIns="0" rIns="0">
            <a:spAutoFit/>
          </a:bodyPr>
          <a:lstStyle/>
          <a:p>
            <a:pPr algn="l">
              <a:lnSpc>
                <a:spcPts val="4368"/>
              </a:lnSpc>
            </a:pPr>
            <a:r>
              <a:rPr lang="en-US" sz="5600" spc="-184" b="true">
                <a:solidFill>
                  <a:srgbClr val="2C160A"/>
                </a:solidFill>
                <a:latin typeface="HK Grotesk Bold"/>
                <a:ea typeface="HK Grotesk Bold"/>
                <a:cs typeface="HK Grotesk Bold"/>
                <a:sym typeface="HK Grotesk Bold"/>
              </a:rPr>
              <a:t>Müzede</a:t>
            </a:r>
          </a:p>
          <a:p>
            <a:pPr algn="l">
              <a:lnSpc>
                <a:spcPts val="4368"/>
              </a:lnSpc>
            </a:pPr>
            <a:r>
              <a:rPr lang="en-US" sz="5600" spc="-184" b="true">
                <a:solidFill>
                  <a:srgbClr val="2C160A"/>
                </a:solidFill>
                <a:latin typeface="HK Grotesk Bold"/>
                <a:ea typeface="HK Grotesk Bold"/>
                <a:cs typeface="HK Grotesk Bold"/>
                <a:sym typeface="HK Grotesk Bold"/>
              </a:rPr>
              <a:t>        Sergilenen</a:t>
            </a:r>
          </a:p>
          <a:p>
            <a:pPr algn="l">
              <a:lnSpc>
                <a:spcPts val="4368"/>
              </a:lnSpc>
            </a:pPr>
            <a:r>
              <a:rPr lang="en-US" sz="5600" spc="-184" b="true">
                <a:solidFill>
                  <a:srgbClr val="2C160A"/>
                </a:solidFill>
                <a:latin typeface="HK Grotesk Bold"/>
                <a:ea typeface="HK Grotesk Bold"/>
                <a:cs typeface="HK Grotesk Bold"/>
                <a:sym typeface="HK Grotesk Bold"/>
              </a:rPr>
              <a:t>                    Önemli </a:t>
            </a:r>
          </a:p>
          <a:p>
            <a:pPr algn="l">
              <a:lnSpc>
                <a:spcPts val="4368"/>
              </a:lnSpc>
            </a:pPr>
            <a:r>
              <a:rPr lang="en-US" sz="5600" spc="-184" b="true">
                <a:solidFill>
                  <a:srgbClr val="2C160A"/>
                </a:solidFill>
                <a:latin typeface="HK Grotesk Bold"/>
                <a:ea typeface="HK Grotesk Bold"/>
                <a:cs typeface="HK Grotesk Bold"/>
                <a:sym typeface="HK Grotesk Bold"/>
              </a:rPr>
              <a:t>                            Eserler</a:t>
            </a:r>
          </a:p>
        </p:txBody>
      </p:sp>
      <p:sp>
        <p:nvSpPr>
          <p:cNvPr name="TextBox 6" id="6"/>
          <p:cNvSpPr txBox="true"/>
          <p:nvPr/>
        </p:nvSpPr>
        <p:spPr>
          <a:xfrm rot="0">
            <a:off x="247135" y="4028745"/>
            <a:ext cx="6027651" cy="4966009"/>
          </a:xfrm>
          <a:prstGeom prst="rect">
            <a:avLst/>
          </a:prstGeom>
        </p:spPr>
        <p:txBody>
          <a:bodyPr anchor="t" rtlCol="false" tIns="0" lIns="0" bIns="0" rIns="0">
            <a:spAutoFit/>
          </a:bodyPr>
          <a:lstStyle/>
          <a:p>
            <a:pPr algn="just">
              <a:lnSpc>
                <a:spcPts val="1951"/>
              </a:lnSpc>
              <a:spcBef>
                <a:spcPct val="0"/>
              </a:spcBef>
            </a:pPr>
            <a:r>
              <a:rPr lang="en-US" b="true" sz="1774">
                <a:solidFill>
                  <a:srgbClr val="342121"/>
                </a:solidFill>
                <a:latin typeface="HK Grotesk Bold"/>
                <a:ea typeface="HK Grotesk Bold"/>
                <a:cs typeface="HK Grotesk Bold"/>
                <a:sym typeface="HK Grotesk Bold"/>
              </a:rPr>
              <a:t>İstanbul A</a:t>
            </a:r>
            <a:r>
              <a:rPr lang="en-US" b="true" sz="1774">
                <a:solidFill>
                  <a:srgbClr val="342121"/>
                </a:solidFill>
                <a:latin typeface="HK Grotesk Bold"/>
                <a:ea typeface="HK Grotesk Bold"/>
                <a:cs typeface="HK Grotesk Bold"/>
                <a:sym typeface="HK Grotesk Bold"/>
              </a:rPr>
              <a:t>rkeoloji Müzeleri, çok sayıda tarihi ve değerli esere ev sahipliği yapar. İşte müzede görebileceğiniz bazı önemli eserler:</a:t>
            </a:r>
          </a:p>
          <a:p>
            <a:pPr algn="just" marL="383084" indent="-191542" lvl="1">
              <a:lnSpc>
                <a:spcPts val="1951"/>
              </a:lnSpc>
              <a:spcBef>
                <a:spcPct val="0"/>
              </a:spcBef>
              <a:buFont typeface="Arial"/>
              <a:buChar char="•"/>
            </a:pPr>
            <a:r>
              <a:rPr lang="en-US" b="true" sz="1774">
                <a:solidFill>
                  <a:srgbClr val="342121"/>
                </a:solidFill>
                <a:latin typeface="HK Grotesk Bold"/>
                <a:ea typeface="HK Grotesk Bold"/>
                <a:cs typeface="HK Grotesk Bold"/>
                <a:sym typeface="HK Grotesk Bold"/>
              </a:rPr>
              <a:t>İskender Lahdi: Makedonya Kralı Büyük İskender’e ait olduğu düşünülen ve detaylı kabartmalarla süslenmiş büyük bir lahit.</a:t>
            </a:r>
          </a:p>
          <a:p>
            <a:pPr algn="just" marL="383084" indent="-191542" lvl="1">
              <a:lnSpc>
                <a:spcPts val="1951"/>
              </a:lnSpc>
              <a:spcBef>
                <a:spcPct val="0"/>
              </a:spcBef>
              <a:buFont typeface="Arial"/>
              <a:buChar char="•"/>
            </a:pPr>
            <a:r>
              <a:rPr lang="en-US" b="true" sz="1774">
                <a:solidFill>
                  <a:srgbClr val="342121"/>
                </a:solidFill>
                <a:latin typeface="HK Grotesk Bold"/>
                <a:ea typeface="HK Grotesk Bold"/>
                <a:cs typeface="HK Grotesk Bold"/>
                <a:sym typeface="HK Grotesk Bold"/>
              </a:rPr>
              <a:t>Ağlayan Kadınlar Lahdi: Sidon bölgesinden çıkarılan, üzerindeki kadın figürleri ile duygusal sahneler anlatan önemli bir lahit.</a:t>
            </a:r>
          </a:p>
          <a:p>
            <a:pPr algn="just" marL="383084" indent="-191542" lvl="1">
              <a:lnSpc>
                <a:spcPts val="1951"/>
              </a:lnSpc>
              <a:spcBef>
                <a:spcPct val="0"/>
              </a:spcBef>
              <a:buFont typeface="Arial"/>
              <a:buChar char="•"/>
            </a:pPr>
            <a:r>
              <a:rPr lang="en-US" b="true" sz="1774">
                <a:solidFill>
                  <a:srgbClr val="342121"/>
                </a:solidFill>
                <a:latin typeface="HK Grotesk Bold"/>
                <a:ea typeface="HK Grotesk Bold"/>
                <a:cs typeface="HK Grotesk Bold"/>
                <a:sym typeface="HK Grotesk Bold"/>
              </a:rPr>
              <a:t>Kadeş Antlaşması Tableti: Dünyanın bilinen en eski yazılı antlaşmasıdır ve Hitit ile Mısır arasında yapılmıştır.</a:t>
            </a:r>
          </a:p>
          <a:p>
            <a:pPr algn="just" marL="383084" indent="-191542" lvl="1">
              <a:lnSpc>
                <a:spcPts val="1951"/>
              </a:lnSpc>
              <a:spcBef>
                <a:spcPct val="0"/>
              </a:spcBef>
              <a:buFont typeface="Arial"/>
              <a:buChar char="•"/>
            </a:pPr>
            <a:r>
              <a:rPr lang="en-US" b="true" sz="1774">
                <a:solidFill>
                  <a:srgbClr val="342121"/>
                </a:solidFill>
                <a:latin typeface="HK Grotesk Bold"/>
                <a:ea typeface="HK Grotesk Bold"/>
                <a:cs typeface="HK Grotesk Bold"/>
                <a:sym typeface="HK Grotesk Bold"/>
              </a:rPr>
              <a:t>Tantana Lahdi: Detaylı kabartmalarla süslenmiş, Roma döneminden kalma önemli bir lahit.</a:t>
            </a:r>
          </a:p>
          <a:p>
            <a:pPr algn="just" marL="383084" indent="-191542" lvl="1">
              <a:lnSpc>
                <a:spcPts val="1951"/>
              </a:lnSpc>
              <a:spcBef>
                <a:spcPct val="0"/>
              </a:spcBef>
              <a:buFont typeface="Arial"/>
              <a:buChar char="•"/>
            </a:pPr>
            <a:r>
              <a:rPr lang="en-US" b="true" sz="1774">
                <a:solidFill>
                  <a:srgbClr val="342121"/>
                </a:solidFill>
                <a:latin typeface="HK Grotesk Bold"/>
                <a:ea typeface="HK Grotesk Bold"/>
                <a:cs typeface="HK Grotesk Bold"/>
                <a:sym typeface="HK Grotesk Bold"/>
              </a:rPr>
              <a:t>Nehir Tanrısı Heykeli: Antik Roma dönemine ait bu heykel, nehirleri temsil eden tanrıyı gösterir. Yatay pozisyonda, dinlenir halde tasvir edilmiştir. Heykel, akışkan ve doğal bir duruşa sahiptir ve müzenin en dikkat çeken eserlerinden biridir.</a:t>
            </a:r>
          </a:p>
          <a:p>
            <a:pPr algn="just">
              <a:lnSpc>
                <a:spcPts val="1951"/>
              </a:lnSpc>
              <a:spcBef>
                <a:spcPct val="0"/>
              </a:spcBef>
            </a:pPr>
          </a:p>
          <a:p>
            <a:pPr algn="just">
              <a:lnSpc>
                <a:spcPts val="1951"/>
              </a:lnSpc>
              <a:spcBef>
                <a:spcPct val="0"/>
              </a:spcBef>
            </a:pPr>
          </a:p>
        </p:txBody>
      </p:sp>
      <p:sp>
        <p:nvSpPr>
          <p:cNvPr name="TextBox 7" id="7"/>
          <p:cNvSpPr txBox="true"/>
          <p:nvPr/>
        </p:nvSpPr>
        <p:spPr>
          <a:xfrm rot="0">
            <a:off x="15463376" y="698618"/>
            <a:ext cx="2503850" cy="1538796"/>
          </a:xfrm>
          <a:prstGeom prst="rect">
            <a:avLst/>
          </a:prstGeom>
        </p:spPr>
        <p:txBody>
          <a:bodyPr anchor="t" rtlCol="false" tIns="0" lIns="0" bIns="0" rIns="0">
            <a:spAutoFit/>
          </a:bodyPr>
          <a:lstStyle/>
          <a:p>
            <a:pPr algn="r">
              <a:lnSpc>
                <a:spcPts val="10662"/>
              </a:lnSpc>
            </a:pPr>
            <a:r>
              <a:rPr lang="en-US" b="true" sz="13670" spc="-451">
                <a:solidFill>
                  <a:srgbClr val="8E5021">
                    <a:alpha val="35686"/>
                  </a:srgbClr>
                </a:solidFill>
                <a:latin typeface="HK Grotesk Bold"/>
                <a:ea typeface="HK Grotesk Bold"/>
                <a:cs typeface="HK Grotesk Bold"/>
                <a:sym typeface="HK Grotesk Bold"/>
              </a:rPr>
              <a:t>05</a:t>
            </a:r>
          </a:p>
        </p:txBody>
      </p:sp>
      <p:sp>
        <p:nvSpPr>
          <p:cNvPr name="TextBox 8" id="8"/>
          <p:cNvSpPr txBox="true"/>
          <p:nvPr/>
        </p:nvSpPr>
        <p:spPr>
          <a:xfrm rot="0">
            <a:off x="247135" y="8761810"/>
            <a:ext cx="8255307" cy="1249680"/>
          </a:xfrm>
          <a:prstGeom prst="rect">
            <a:avLst/>
          </a:prstGeom>
        </p:spPr>
        <p:txBody>
          <a:bodyPr anchor="t" rtlCol="false" tIns="0" lIns="0" bIns="0" rIns="0">
            <a:spAutoFit/>
          </a:bodyPr>
          <a:lstStyle/>
          <a:p>
            <a:pPr algn="ctr">
              <a:lnSpc>
                <a:spcPts val="2519"/>
              </a:lnSpc>
              <a:spcBef>
                <a:spcPct val="0"/>
              </a:spcBef>
            </a:pPr>
            <a:r>
              <a:rPr lang="en-US" b="true" sz="1799" i="true" spc="55">
                <a:solidFill>
                  <a:srgbClr val="000000">
                    <a:alpha val="69804"/>
                  </a:srgbClr>
                </a:solidFill>
                <a:latin typeface="HK Grotesk Bold Italics"/>
                <a:ea typeface="HK Grotesk Bold Italics"/>
                <a:cs typeface="HK Grotesk Bold Italics"/>
                <a:sym typeface="HK Grotesk Bold Italics"/>
              </a:rPr>
              <a:t>Yanında durduğum bu heykel, Antik Rom</a:t>
            </a:r>
            <a:r>
              <a:rPr lang="en-US" b="true" sz="1799" i="true" spc="55">
                <a:solidFill>
                  <a:srgbClr val="000000">
                    <a:alpha val="69804"/>
                  </a:srgbClr>
                </a:solidFill>
                <a:latin typeface="HK Grotesk Bold Italics"/>
                <a:ea typeface="HK Grotesk Bold Italics"/>
                <a:cs typeface="HK Grotesk Bold Italics"/>
                <a:sym typeface="HK Grotesk Bold Italics"/>
              </a:rPr>
              <a:t>a döneminde nehirleri temsil eden tanrıyı gösterir. Dinlenir pozisyondaki figür, suyun akışkanlığını ve doğallığını simgeler. İstanbul Arkeoloji Müzeleri’nde sergilenen en etkileyici eserlerden biridir.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10287196" y="1007201"/>
            <a:ext cx="7137973" cy="8149033"/>
            <a:chOff x="0" y="0"/>
            <a:chExt cx="1083589" cy="1237074"/>
          </a:xfrm>
        </p:grpSpPr>
        <p:sp>
          <p:nvSpPr>
            <p:cNvPr name="Freeform 3" id="3"/>
            <p:cNvSpPr/>
            <p:nvPr/>
          </p:nvSpPr>
          <p:spPr>
            <a:xfrm flipH="false" flipV="false" rot="0">
              <a:off x="0" y="0"/>
              <a:ext cx="1083589" cy="1237074"/>
            </a:xfrm>
            <a:custGeom>
              <a:avLst/>
              <a:gdLst/>
              <a:ahLst/>
              <a:cxnLst/>
              <a:rect r="r" b="b" t="t" l="l"/>
              <a:pathLst>
                <a:path h="1237074" w="1083589">
                  <a:moveTo>
                    <a:pt x="0" y="0"/>
                  </a:moveTo>
                  <a:lnTo>
                    <a:pt x="1083589" y="0"/>
                  </a:lnTo>
                  <a:lnTo>
                    <a:pt x="1083589" y="1237074"/>
                  </a:lnTo>
                  <a:lnTo>
                    <a:pt x="0" y="1237074"/>
                  </a:lnTo>
                  <a:close/>
                </a:path>
              </a:pathLst>
            </a:custGeom>
            <a:blipFill>
              <a:blip r:embed="rId2"/>
              <a:stretch>
                <a:fillRect l="0" t="-8395" r="0" b="-8395"/>
              </a:stretch>
            </a:blipFill>
          </p:spPr>
        </p:sp>
      </p:grpSp>
      <p:sp>
        <p:nvSpPr>
          <p:cNvPr name="AutoShape 4" id="4"/>
          <p:cNvSpPr/>
          <p:nvPr/>
        </p:nvSpPr>
        <p:spPr>
          <a:xfrm flipV="true">
            <a:off x="1090613" y="-4038887"/>
            <a:ext cx="0" cy="649224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1028700" y="3031961"/>
            <a:ext cx="7474406" cy="1387475"/>
          </a:xfrm>
          <a:prstGeom prst="rect">
            <a:avLst/>
          </a:prstGeom>
        </p:spPr>
        <p:txBody>
          <a:bodyPr anchor="t" rtlCol="false" tIns="0" lIns="0" bIns="0" rIns="0">
            <a:spAutoFit/>
          </a:bodyPr>
          <a:lstStyle/>
          <a:p>
            <a:pPr algn="l">
              <a:lnSpc>
                <a:spcPts val="5320"/>
              </a:lnSpc>
            </a:pPr>
            <a:r>
              <a:rPr lang="en-US" sz="5600" spc="-184" b="true">
                <a:solidFill>
                  <a:srgbClr val="2C160A"/>
                </a:solidFill>
                <a:latin typeface="HK Grotesk Bold"/>
                <a:ea typeface="HK Grotesk Bold"/>
                <a:cs typeface="HK Grotesk Bold"/>
                <a:sym typeface="HK Grotesk Bold"/>
              </a:rPr>
              <a:t>Marsyas</a:t>
            </a:r>
          </a:p>
          <a:p>
            <a:pPr algn="l">
              <a:lnSpc>
                <a:spcPts val="5320"/>
              </a:lnSpc>
            </a:pPr>
            <a:r>
              <a:rPr lang="en-US" sz="5600" spc="-184" b="true">
                <a:solidFill>
                  <a:srgbClr val="2C160A"/>
                </a:solidFill>
                <a:latin typeface="HK Grotesk Bold"/>
                <a:ea typeface="HK Grotesk Bold"/>
                <a:cs typeface="HK Grotesk Bold"/>
                <a:sym typeface="HK Grotesk Bold"/>
              </a:rPr>
              <a:t>           Heykeli</a:t>
            </a:r>
          </a:p>
        </p:txBody>
      </p:sp>
      <p:sp>
        <p:nvSpPr>
          <p:cNvPr name="TextBox 6" id="6"/>
          <p:cNvSpPr txBox="true"/>
          <p:nvPr/>
        </p:nvSpPr>
        <p:spPr>
          <a:xfrm rot="0">
            <a:off x="696860" y="4918094"/>
            <a:ext cx="8771844" cy="4238140"/>
          </a:xfrm>
          <a:prstGeom prst="rect">
            <a:avLst/>
          </a:prstGeom>
        </p:spPr>
        <p:txBody>
          <a:bodyPr anchor="t" rtlCol="false" tIns="0" lIns="0" bIns="0" rIns="0">
            <a:spAutoFit/>
          </a:bodyPr>
          <a:lstStyle/>
          <a:p>
            <a:pPr algn="just">
              <a:lnSpc>
                <a:spcPts val="2487"/>
              </a:lnSpc>
              <a:spcBef>
                <a:spcPct val="0"/>
              </a:spcBef>
            </a:pPr>
            <a:r>
              <a:rPr lang="en-US" b="true" sz="2261">
                <a:solidFill>
                  <a:srgbClr val="342121"/>
                </a:solidFill>
                <a:latin typeface="HK Grotesk Bold"/>
                <a:ea typeface="HK Grotesk Bold"/>
                <a:cs typeface="HK Grotesk Bold"/>
                <a:sym typeface="HK Grotesk Bold"/>
              </a:rPr>
              <a:t>Ma</a:t>
            </a:r>
            <a:r>
              <a:rPr lang="en-US" b="true" sz="2261">
                <a:solidFill>
                  <a:srgbClr val="342121"/>
                </a:solidFill>
                <a:latin typeface="HK Grotesk Bold"/>
                <a:ea typeface="HK Grotesk Bold"/>
                <a:cs typeface="HK Grotesk Bold"/>
                <a:sym typeface="HK Grotesk Bold"/>
              </a:rPr>
              <a:t>rsyas, Antik Yunan mitolojisinde Frigya’dan gelen bir satirdir. Efsaneye göre, Marsyas bir flüt çalarken tanrı Apollon ile müzik yarışına girmiştir. Ancak yarışmayı kaybetmiş ve cezalandırılmıştır.   Bu mitolojik hikaye, sanat ve doğa arasındaki mücadeleyi simgeler.</a:t>
            </a:r>
          </a:p>
          <a:p>
            <a:pPr algn="just">
              <a:lnSpc>
                <a:spcPts val="2487"/>
              </a:lnSpc>
              <a:spcBef>
                <a:spcPct val="0"/>
              </a:spcBef>
            </a:pPr>
          </a:p>
          <a:p>
            <a:pPr algn="just">
              <a:lnSpc>
                <a:spcPts val="2377"/>
              </a:lnSpc>
              <a:spcBef>
                <a:spcPct val="0"/>
              </a:spcBef>
            </a:pPr>
            <a:r>
              <a:rPr lang="en-US" b="true" sz="2161">
                <a:solidFill>
                  <a:srgbClr val="342121"/>
                </a:solidFill>
                <a:latin typeface="HK Grotesk Bold"/>
                <a:ea typeface="HK Grotesk Bold"/>
                <a:cs typeface="HK Grotesk Bold"/>
                <a:sym typeface="HK Grotesk Bold"/>
              </a:rPr>
              <a:t>Müzedeki Marsyas Heykeli, Roma dönemine ait bir mermer heykeldir ve Marsyas’ı dik veya yarı oturur pozisyonda tasvir eder. Heykelde figürün kas yapısı, hareket hissi ve detaylı anatomisi dikkat çeker.</a:t>
            </a:r>
          </a:p>
          <a:p>
            <a:pPr algn="just">
              <a:lnSpc>
                <a:spcPts val="2377"/>
              </a:lnSpc>
              <a:spcBef>
                <a:spcPct val="0"/>
              </a:spcBef>
            </a:pPr>
            <a:r>
              <a:rPr lang="en-US" b="true" sz="2161">
                <a:solidFill>
                  <a:srgbClr val="342121"/>
                </a:solidFill>
                <a:latin typeface="HK Grotesk Bold"/>
                <a:ea typeface="HK Grotesk Bold"/>
                <a:cs typeface="HK Grotesk Bold"/>
                <a:sym typeface="HK Grotesk Bold"/>
              </a:rPr>
              <a:t> Genellikle elleri ve yüz ifadesi üzerinden mitolojik hikâye anlatılmaya çalışılmıştır.</a:t>
            </a:r>
          </a:p>
          <a:p>
            <a:pPr algn="just">
              <a:lnSpc>
                <a:spcPts val="2377"/>
              </a:lnSpc>
              <a:spcBef>
                <a:spcPct val="0"/>
              </a:spcBef>
            </a:pPr>
            <a:r>
              <a:rPr lang="en-US" b="true" sz="2161">
                <a:solidFill>
                  <a:srgbClr val="342121"/>
                </a:solidFill>
                <a:latin typeface="HK Grotesk Bold"/>
                <a:ea typeface="HK Grotesk Bold"/>
                <a:cs typeface="HK Grotesk Bold"/>
                <a:sym typeface="HK Grotesk Bold"/>
              </a:rPr>
              <a:t>Bu heykel, müzede Antik Yunan ve Roma dönemine ait heykeller arasında önemli bir örnektir ve mitolojik karakterlerin heykel sanatıyla nasıl anlatıldığını gösterir.</a:t>
            </a:r>
          </a:p>
          <a:p>
            <a:pPr algn="just">
              <a:lnSpc>
                <a:spcPts val="2377"/>
              </a:lnSpc>
              <a:spcBef>
                <a:spcPct val="0"/>
              </a:spcBef>
            </a:pPr>
          </a:p>
        </p:txBody>
      </p:sp>
      <p:sp>
        <p:nvSpPr>
          <p:cNvPr name="TextBox 7" id="7"/>
          <p:cNvSpPr txBox="true"/>
          <p:nvPr/>
        </p:nvSpPr>
        <p:spPr>
          <a:xfrm rot="0">
            <a:off x="1414876" y="1373294"/>
            <a:ext cx="3530565" cy="1538796"/>
          </a:xfrm>
          <a:prstGeom prst="rect">
            <a:avLst/>
          </a:prstGeom>
        </p:spPr>
        <p:txBody>
          <a:bodyPr anchor="t" rtlCol="false" tIns="0" lIns="0" bIns="0" rIns="0">
            <a:spAutoFit/>
          </a:bodyPr>
          <a:lstStyle/>
          <a:p>
            <a:pPr algn="l">
              <a:lnSpc>
                <a:spcPts val="10662"/>
              </a:lnSpc>
            </a:pPr>
            <a:r>
              <a:rPr lang="en-US" sz="13670" spc="423" b="true">
                <a:solidFill>
                  <a:srgbClr val="8E5021">
                    <a:alpha val="35686"/>
                  </a:srgbClr>
                </a:solidFill>
                <a:latin typeface="HK Grotesk Bold"/>
                <a:ea typeface="HK Grotesk Bold"/>
                <a:cs typeface="HK Grotesk Bold"/>
                <a:sym typeface="HK Grotesk Bold"/>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10613258" y="830369"/>
            <a:ext cx="6646042" cy="9397642"/>
            <a:chOff x="0" y="0"/>
            <a:chExt cx="895000" cy="1265548"/>
          </a:xfrm>
        </p:grpSpPr>
        <p:sp>
          <p:nvSpPr>
            <p:cNvPr name="Freeform 3" id="3"/>
            <p:cNvSpPr/>
            <p:nvPr/>
          </p:nvSpPr>
          <p:spPr>
            <a:xfrm flipH="false" flipV="false" rot="0">
              <a:off x="0" y="0"/>
              <a:ext cx="895000" cy="1265549"/>
            </a:xfrm>
            <a:custGeom>
              <a:avLst/>
              <a:gdLst/>
              <a:ahLst/>
              <a:cxnLst/>
              <a:rect r="r" b="b" t="t" l="l"/>
              <a:pathLst>
                <a:path h="1265549" w="895000">
                  <a:moveTo>
                    <a:pt x="0" y="0"/>
                  </a:moveTo>
                  <a:lnTo>
                    <a:pt x="895000" y="0"/>
                  </a:lnTo>
                  <a:lnTo>
                    <a:pt x="895000" y="1265549"/>
                  </a:lnTo>
                  <a:lnTo>
                    <a:pt x="0" y="1265549"/>
                  </a:lnTo>
                  <a:close/>
                </a:path>
              </a:pathLst>
            </a:custGeom>
            <a:blipFill>
              <a:blip r:embed="rId2"/>
              <a:stretch>
                <a:fillRect l="-3025" t="0" r="-3025" b="0"/>
              </a:stretch>
            </a:blipFill>
          </p:spPr>
        </p:sp>
      </p:grpSp>
      <p:sp>
        <p:nvSpPr>
          <p:cNvPr name="AutoShape 4" id="4"/>
          <p:cNvSpPr/>
          <p:nvPr/>
        </p:nvSpPr>
        <p:spPr>
          <a:xfrm flipV="true">
            <a:off x="1090613" y="-4038887"/>
            <a:ext cx="0" cy="649224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1028700" y="3228498"/>
            <a:ext cx="7410555" cy="2054225"/>
          </a:xfrm>
          <a:prstGeom prst="rect">
            <a:avLst/>
          </a:prstGeom>
        </p:spPr>
        <p:txBody>
          <a:bodyPr anchor="t" rtlCol="false" tIns="0" lIns="0" bIns="0" rIns="0">
            <a:spAutoFit/>
          </a:bodyPr>
          <a:lstStyle/>
          <a:p>
            <a:pPr algn="l">
              <a:lnSpc>
                <a:spcPts val="5320"/>
              </a:lnSpc>
            </a:pPr>
            <a:r>
              <a:rPr lang="en-US" sz="5600" spc="-184" b="true">
                <a:solidFill>
                  <a:srgbClr val="2C160A"/>
                </a:solidFill>
                <a:latin typeface="HK Grotesk Bold"/>
                <a:ea typeface="HK Grotesk Bold"/>
                <a:cs typeface="HK Grotesk Bold"/>
                <a:sym typeface="HK Grotesk Bold"/>
              </a:rPr>
              <a:t>Erkek </a:t>
            </a:r>
          </a:p>
          <a:p>
            <a:pPr algn="l">
              <a:lnSpc>
                <a:spcPts val="5320"/>
              </a:lnSpc>
            </a:pPr>
            <a:r>
              <a:rPr lang="en-US" sz="5600" spc="-184" b="true">
                <a:solidFill>
                  <a:srgbClr val="2C160A"/>
                </a:solidFill>
                <a:latin typeface="HK Grotesk Bold"/>
                <a:ea typeface="HK Grotesk Bold"/>
                <a:cs typeface="HK Grotesk Bold"/>
                <a:sym typeface="HK Grotesk Bold"/>
              </a:rPr>
              <a:t>        Başı </a:t>
            </a:r>
          </a:p>
          <a:p>
            <a:pPr algn="l">
              <a:lnSpc>
                <a:spcPts val="5319"/>
              </a:lnSpc>
            </a:pPr>
            <a:r>
              <a:rPr lang="en-US" sz="5599" spc="-184" b="true">
                <a:solidFill>
                  <a:srgbClr val="2C160A"/>
                </a:solidFill>
                <a:latin typeface="HK Grotesk Bold"/>
                <a:ea typeface="HK Grotesk Bold"/>
                <a:cs typeface="HK Grotesk Bold"/>
                <a:sym typeface="HK Grotesk Bold"/>
              </a:rPr>
              <a:t>            Kalıntıları</a:t>
            </a:r>
          </a:p>
        </p:txBody>
      </p:sp>
      <p:sp>
        <p:nvSpPr>
          <p:cNvPr name="TextBox 6" id="6"/>
          <p:cNvSpPr txBox="true"/>
          <p:nvPr/>
        </p:nvSpPr>
        <p:spPr>
          <a:xfrm rot="0">
            <a:off x="1414876" y="1373294"/>
            <a:ext cx="3530565" cy="1538796"/>
          </a:xfrm>
          <a:prstGeom prst="rect">
            <a:avLst/>
          </a:prstGeom>
        </p:spPr>
        <p:txBody>
          <a:bodyPr anchor="t" rtlCol="false" tIns="0" lIns="0" bIns="0" rIns="0">
            <a:spAutoFit/>
          </a:bodyPr>
          <a:lstStyle/>
          <a:p>
            <a:pPr algn="l">
              <a:lnSpc>
                <a:spcPts val="10662"/>
              </a:lnSpc>
            </a:pPr>
            <a:r>
              <a:rPr lang="en-US" sz="13670" spc="423" b="true">
                <a:solidFill>
                  <a:srgbClr val="8E5021">
                    <a:alpha val="35686"/>
                  </a:srgbClr>
                </a:solidFill>
                <a:latin typeface="HK Grotesk Bold"/>
                <a:ea typeface="HK Grotesk Bold"/>
                <a:cs typeface="HK Grotesk Bold"/>
                <a:sym typeface="HK Grotesk Bold"/>
              </a:rPr>
              <a:t>07</a:t>
            </a:r>
          </a:p>
        </p:txBody>
      </p:sp>
      <p:sp>
        <p:nvSpPr>
          <p:cNvPr name="TextBox 7" id="7"/>
          <p:cNvSpPr txBox="true"/>
          <p:nvPr/>
        </p:nvSpPr>
        <p:spPr>
          <a:xfrm rot="0">
            <a:off x="0" y="5882798"/>
            <a:ext cx="9829803" cy="3652600"/>
          </a:xfrm>
          <a:prstGeom prst="rect">
            <a:avLst/>
          </a:prstGeom>
        </p:spPr>
        <p:txBody>
          <a:bodyPr anchor="t" rtlCol="false" tIns="0" lIns="0" bIns="0" rIns="0">
            <a:spAutoFit/>
          </a:bodyPr>
          <a:lstStyle/>
          <a:p>
            <a:pPr algn="ctr">
              <a:lnSpc>
                <a:spcPts val="2932"/>
              </a:lnSpc>
              <a:spcBef>
                <a:spcPct val="0"/>
              </a:spcBef>
            </a:pPr>
            <a:r>
              <a:rPr lang="en-US" b="true" sz="2094" spc="-69">
                <a:solidFill>
                  <a:srgbClr val="000000">
                    <a:alpha val="75686"/>
                  </a:srgbClr>
                </a:solidFill>
                <a:latin typeface="HK Grotesk Bold"/>
                <a:ea typeface="HK Grotesk Bold"/>
                <a:cs typeface="HK Grotesk Bold"/>
                <a:sym typeface="HK Grotesk Bold"/>
              </a:rPr>
              <a:t>Bu heykel aslında çok büyük, gösterişli veya dikkat çekici bir eser değil gibi görünebilir. Ama bence burada asıl önemli olan detaylarda saklı. Heykelin yüzündeki ifadeye ve sakalına dikkat ettiğimde, o dönemin insanlarının nasıl göründüğünü, hangi tarzda sakal kestiklerini ya da saçlarını nasıl yaptıklarını anlıyorum.</a:t>
            </a:r>
          </a:p>
          <a:p>
            <a:pPr algn="ctr">
              <a:lnSpc>
                <a:spcPts val="2868"/>
              </a:lnSpc>
              <a:spcBef>
                <a:spcPct val="0"/>
              </a:spcBef>
            </a:pPr>
            <a:r>
              <a:rPr lang="en-US" b="true" sz="2048" spc="-67">
                <a:solidFill>
                  <a:srgbClr val="000000">
                    <a:alpha val="75686"/>
                  </a:srgbClr>
                </a:solidFill>
                <a:latin typeface="HK Grotesk Bold"/>
                <a:ea typeface="HK Grotesk Bold"/>
                <a:cs typeface="HK Grotesk Bold"/>
                <a:sym typeface="HK Grotesk Bold"/>
              </a:rPr>
              <a:t>Bazen büyük ve karmaşık heykeller herkesin ilgisini çeker, ama bu küçük ve sade heykel bize o dönemin günlük yaşamından bir kesit sunuyor gibi. Sanki karşısındaki insanı anlatmaya çalışan gerçek bir portre gibi duruyor. Bu yüzden bence “basit” görünse de aslında tarih ve kültür açısından çok değerli.</a:t>
            </a:r>
          </a:p>
          <a:p>
            <a:pPr algn="ctr">
              <a:lnSpc>
                <a:spcPts val="2868"/>
              </a:lnSpc>
              <a:spcBef>
                <a:spcPct val="0"/>
              </a:spcBef>
            </a:pPr>
            <a:r>
              <a:rPr lang="en-US" b="true" sz="2048" spc="-67">
                <a:solidFill>
                  <a:srgbClr val="000000">
                    <a:alpha val="75686"/>
                  </a:srgbClr>
                </a:solidFill>
                <a:latin typeface="HK Grotesk Bold"/>
                <a:ea typeface="HK Grotesk Bold"/>
                <a:cs typeface="HK Grotesk Bold"/>
                <a:sym typeface="HK Grotesk Bold"/>
              </a:rPr>
              <a:t>Yani bu heykel, geçmişte yaşayan sıradan bir adamın yüzünü görmemizi sağlıyor ve bu da tarihi daha samimi ve anlaşılır kılıyor.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1EE"/>
        </a:solidFill>
      </p:bgPr>
    </p:bg>
    <p:spTree>
      <p:nvGrpSpPr>
        <p:cNvPr id="1" name=""/>
        <p:cNvGrpSpPr/>
        <p:nvPr/>
      </p:nvGrpSpPr>
      <p:grpSpPr>
        <a:xfrm>
          <a:off x="0" y="0"/>
          <a:ext cx="0" cy="0"/>
          <a:chOff x="0" y="0"/>
          <a:chExt cx="0" cy="0"/>
        </a:xfrm>
      </p:grpSpPr>
      <p:grpSp>
        <p:nvGrpSpPr>
          <p:cNvPr name="Group 2" id="2"/>
          <p:cNvGrpSpPr/>
          <p:nvPr/>
        </p:nvGrpSpPr>
        <p:grpSpPr>
          <a:xfrm rot="0">
            <a:off x="949424" y="1359872"/>
            <a:ext cx="7258050" cy="8342174"/>
            <a:chOff x="0" y="0"/>
            <a:chExt cx="1124462" cy="1292421"/>
          </a:xfrm>
        </p:grpSpPr>
        <p:sp>
          <p:nvSpPr>
            <p:cNvPr name="Freeform 3" id="3"/>
            <p:cNvSpPr/>
            <p:nvPr/>
          </p:nvSpPr>
          <p:spPr>
            <a:xfrm flipH="false" flipV="false" rot="0">
              <a:off x="0" y="0"/>
              <a:ext cx="1124462" cy="1292421"/>
            </a:xfrm>
            <a:custGeom>
              <a:avLst/>
              <a:gdLst/>
              <a:ahLst/>
              <a:cxnLst/>
              <a:rect r="r" b="b" t="t" l="l"/>
              <a:pathLst>
                <a:path h="1292421" w="1124462">
                  <a:moveTo>
                    <a:pt x="0" y="0"/>
                  </a:moveTo>
                  <a:lnTo>
                    <a:pt x="1124462" y="0"/>
                  </a:lnTo>
                  <a:lnTo>
                    <a:pt x="1124462" y="1292421"/>
                  </a:lnTo>
                  <a:lnTo>
                    <a:pt x="0" y="1292421"/>
                  </a:lnTo>
                  <a:close/>
                </a:path>
              </a:pathLst>
            </a:custGeom>
            <a:blipFill>
              <a:blip r:embed="rId2"/>
              <a:stretch>
                <a:fillRect l="0" t="-8002" r="0" b="-8002"/>
              </a:stretch>
            </a:blipFill>
          </p:spPr>
        </p:sp>
      </p:grpSp>
      <p:sp>
        <p:nvSpPr>
          <p:cNvPr name="AutoShape 4" id="4"/>
          <p:cNvSpPr/>
          <p:nvPr/>
        </p:nvSpPr>
        <p:spPr>
          <a:xfrm flipV="true">
            <a:off x="17259300" y="-3831872"/>
            <a:ext cx="0" cy="6492240"/>
          </a:xfrm>
          <a:prstGeom prst="line">
            <a:avLst/>
          </a:prstGeom>
          <a:ln cap="flat" w="123825">
            <a:solidFill>
              <a:srgbClr val="8E5021"/>
            </a:solidFill>
            <a:prstDash val="solid"/>
            <a:headEnd type="none" len="sm" w="sm"/>
            <a:tailEnd type="none" len="sm" w="sm"/>
          </a:ln>
        </p:spPr>
      </p:sp>
      <p:sp>
        <p:nvSpPr>
          <p:cNvPr name="TextBox 5" id="5"/>
          <p:cNvSpPr txBox="true"/>
          <p:nvPr/>
        </p:nvSpPr>
        <p:spPr>
          <a:xfrm rot="0">
            <a:off x="8436074" y="2163901"/>
            <a:ext cx="7007717" cy="1736979"/>
          </a:xfrm>
          <a:prstGeom prst="rect">
            <a:avLst/>
          </a:prstGeom>
        </p:spPr>
        <p:txBody>
          <a:bodyPr anchor="t" rtlCol="false" tIns="0" lIns="0" bIns="0" rIns="0">
            <a:spAutoFit/>
          </a:bodyPr>
          <a:lstStyle/>
          <a:p>
            <a:pPr algn="just">
              <a:lnSpc>
                <a:spcPts val="4368"/>
              </a:lnSpc>
            </a:pPr>
            <a:r>
              <a:rPr lang="en-US" b="true" sz="5600" spc="-184">
                <a:solidFill>
                  <a:srgbClr val="2C160A"/>
                </a:solidFill>
                <a:latin typeface="HK Grotesk Bold"/>
                <a:ea typeface="HK Grotesk Bold"/>
                <a:cs typeface="HK Grotesk Bold"/>
                <a:sym typeface="HK Grotesk Bold"/>
              </a:rPr>
              <a:t>Müze</a:t>
            </a:r>
          </a:p>
          <a:p>
            <a:pPr algn="just">
              <a:lnSpc>
                <a:spcPts val="4368"/>
              </a:lnSpc>
            </a:pPr>
            <a:r>
              <a:rPr lang="en-US" b="true" sz="5600" spc="-184">
                <a:solidFill>
                  <a:srgbClr val="2C160A"/>
                </a:solidFill>
                <a:latin typeface="HK Grotesk Bold"/>
                <a:ea typeface="HK Grotesk Bold"/>
                <a:cs typeface="HK Grotesk Bold"/>
                <a:sym typeface="HK Grotesk Bold"/>
              </a:rPr>
              <a:t>        Ziyareti </a:t>
            </a:r>
          </a:p>
          <a:p>
            <a:pPr algn="just">
              <a:lnSpc>
                <a:spcPts val="4368"/>
              </a:lnSpc>
            </a:pPr>
            <a:r>
              <a:rPr lang="en-US" b="true" sz="5600" spc="-184">
                <a:solidFill>
                  <a:srgbClr val="2C160A"/>
                </a:solidFill>
                <a:latin typeface="HK Grotesk Bold"/>
                <a:ea typeface="HK Grotesk Bold"/>
                <a:cs typeface="HK Grotesk Bold"/>
                <a:sym typeface="HK Grotesk Bold"/>
              </a:rPr>
              <a:t>                  Deneyimim</a:t>
            </a:r>
          </a:p>
        </p:txBody>
      </p:sp>
      <p:sp>
        <p:nvSpPr>
          <p:cNvPr name="TextBox 6" id="6"/>
          <p:cNvSpPr txBox="true"/>
          <p:nvPr/>
        </p:nvSpPr>
        <p:spPr>
          <a:xfrm rot="0">
            <a:off x="8804604" y="4136529"/>
            <a:ext cx="8802721" cy="5565517"/>
          </a:xfrm>
          <a:prstGeom prst="rect">
            <a:avLst/>
          </a:prstGeom>
        </p:spPr>
        <p:txBody>
          <a:bodyPr anchor="t" rtlCol="false" tIns="0" lIns="0" bIns="0" rIns="0">
            <a:spAutoFit/>
          </a:bodyPr>
          <a:lstStyle/>
          <a:p>
            <a:pPr algn="just">
              <a:lnSpc>
                <a:spcPts val="2381"/>
              </a:lnSpc>
              <a:spcBef>
                <a:spcPct val="0"/>
              </a:spcBef>
            </a:pPr>
            <a:r>
              <a:rPr lang="en-US" b="true" sz="2165">
                <a:solidFill>
                  <a:srgbClr val="342121"/>
                </a:solidFill>
                <a:latin typeface="HK Grotesk Bold"/>
                <a:ea typeface="HK Grotesk Bold"/>
                <a:cs typeface="HK Grotesk Bold"/>
                <a:sym typeface="HK Grotesk Bold"/>
              </a:rPr>
              <a:t>Ben sadece Arkeoloji Müzesi bölümünü gezdim. Bu bölüm, müzenin en büyük ve en çok eserin sergilendiği yeri. Salonlar geniş ve uzun koridorlar şeklinde düzenlenmiş, bu sayede eserlerin hepsini rahatça görebiliyorsunuz. Lahitler, heykeller ve taş kabartmalar birbirine yakın ama düzenli bir şekilde sergilenmiş. Her eserin yanında kısa bilgiler vardı, hangi döneme ait olduğunu ve ne amaçla yapıldığını öğrenmek kolay oldu.</a:t>
            </a:r>
          </a:p>
          <a:p>
            <a:pPr algn="just">
              <a:lnSpc>
                <a:spcPts val="2381"/>
              </a:lnSpc>
              <a:spcBef>
                <a:spcPct val="0"/>
              </a:spcBef>
            </a:pPr>
            <a:r>
              <a:rPr lang="en-US" b="true" sz="2165">
                <a:solidFill>
                  <a:srgbClr val="342121"/>
                </a:solidFill>
                <a:latin typeface="HK Grotesk Bold"/>
                <a:ea typeface="HK Grotesk Bold"/>
                <a:cs typeface="HK Grotesk Bold"/>
                <a:sym typeface="HK Grotesk Bold"/>
              </a:rPr>
              <a:t>Gezim sırasında özellikle lahitler ve heykeller ilgimi çekti. Bazıları çok büyük ve detaylı, bazıları ise daha küçük ama dönemin günlük yaşamını gösteriyor. Eserlerin düzeni, geçmiş uygarlıkların sanat anlayışını ve kültürel özelliklerini karşılaştırmayı kolaylaştırıyordu. Koridorlarda yürürken her eserin kendine ait bir hikâyesi olduğunu görmek mümkündü.</a:t>
            </a:r>
          </a:p>
          <a:p>
            <a:pPr algn="just">
              <a:lnSpc>
                <a:spcPts val="2381"/>
              </a:lnSpc>
              <a:spcBef>
                <a:spcPct val="0"/>
              </a:spcBef>
            </a:pPr>
            <a:r>
              <a:rPr lang="en-US" b="true" sz="2165">
                <a:solidFill>
                  <a:srgbClr val="342121"/>
                </a:solidFill>
                <a:latin typeface="HK Grotesk Bold"/>
                <a:ea typeface="HK Grotesk Bold"/>
                <a:cs typeface="HK Grotesk Bold"/>
                <a:sym typeface="HK Grotesk Bold"/>
              </a:rPr>
              <a:t>Arkeoloji Müzesi’ni gezerken, bu eserlerin sadece birer taş veya mermer olmadığını, dönemin insanları ve kültürleri hakkında bilgi veren belgeler olduğunu fark ettim. Eserleri incelerken insan kendini adeta o dönemdeymiş gibi düşünebiliyor. Bu bölüm, özellikle tarihi eserleri yakından görmek ve dönemin yaşam biçimini anlamak için ideal bir alan.</a:t>
            </a:r>
          </a:p>
          <a:p>
            <a:pPr algn="just">
              <a:lnSpc>
                <a:spcPts val="2381"/>
              </a:lnSpc>
              <a:spcBef>
                <a:spcPct val="0"/>
              </a:spcBef>
            </a:pPr>
          </a:p>
        </p:txBody>
      </p:sp>
      <p:sp>
        <p:nvSpPr>
          <p:cNvPr name="TextBox 7" id="7"/>
          <p:cNvSpPr txBox="true"/>
          <p:nvPr/>
        </p:nvSpPr>
        <p:spPr>
          <a:xfrm rot="0">
            <a:off x="13435505" y="1446891"/>
            <a:ext cx="3530565" cy="1538796"/>
          </a:xfrm>
          <a:prstGeom prst="rect">
            <a:avLst/>
          </a:prstGeom>
        </p:spPr>
        <p:txBody>
          <a:bodyPr anchor="t" rtlCol="false" tIns="0" lIns="0" bIns="0" rIns="0">
            <a:spAutoFit/>
          </a:bodyPr>
          <a:lstStyle/>
          <a:p>
            <a:pPr algn="r">
              <a:lnSpc>
                <a:spcPts val="10662"/>
              </a:lnSpc>
            </a:pPr>
            <a:r>
              <a:rPr lang="en-US" b="true" sz="13670" spc="423">
                <a:solidFill>
                  <a:srgbClr val="8E5021">
                    <a:alpha val="35686"/>
                  </a:srgbClr>
                </a:solidFill>
                <a:latin typeface="HK Grotesk Bold"/>
                <a:ea typeface="HK Grotesk Bold"/>
                <a:cs typeface="HK Grotesk Bold"/>
                <a:sym typeface="HK Grotesk Bold"/>
              </a:rPr>
              <a:t>08</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6F1EE"/>
        </a:solidFill>
      </p:bgPr>
    </p:bg>
    <p:spTree>
      <p:nvGrpSpPr>
        <p:cNvPr id="1" name=""/>
        <p:cNvGrpSpPr/>
        <p:nvPr/>
      </p:nvGrpSpPr>
      <p:grpSpPr>
        <a:xfrm>
          <a:off x="0" y="0"/>
          <a:ext cx="0" cy="0"/>
          <a:chOff x="0" y="0"/>
          <a:chExt cx="0" cy="0"/>
        </a:xfrm>
      </p:grpSpPr>
      <p:sp>
        <p:nvSpPr>
          <p:cNvPr name="TextBox 2" id="2"/>
          <p:cNvSpPr txBox="true"/>
          <p:nvPr/>
        </p:nvSpPr>
        <p:spPr>
          <a:xfrm rot="0">
            <a:off x="2115509" y="321929"/>
            <a:ext cx="13747265" cy="10243217"/>
          </a:xfrm>
          <a:prstGeom prst="rect">
            <a:avLst/>
          </a:prstGeom>
        </p:spPr>
        <p:txBody>
          <a:bodyPr anchor="t" rtlCol="false" tIns="0" lIns="0" bIns="0" rIns="0">
            <a:spAutoFit/>
          </a:bodyPr>
          <a:lstStyle/>
          <a:p>
            <a:pPr algn="ctr">
              <a:lnSpc>
                <a:spcPts val="17659"/>
              </a:lnSpc>
            </a:pPr>
            <a:r>
              <a:rPr lang="en-US" sz="27169">
                <a:solidFill>
                  <a:srgbClr val="0D3316"/>
                </a:solidFill>
                <a:latin typeface="Symphony"/>
                <a:ea typeface="Symphony"/>
                <a:cs typeface="Symphony"/>
                <a:sym typeface="Symphony"/>
              </a:rPr>
              <a:t>serüvenime tanıklık ettiğiniz için teşekkür ederim</a:t>
            </a:r>
          </a:p>
        </p:txBody>
      </p:sp>
      <p:sp>
        <p:nvSpPr>
          <p:cNvPr name="TextBox 3" id="3"/>
          <p:cNvSpPr txBox="true"/>
          <p:nvPr/>
        </p:nvSpPr>
        <p:spPr>
          <a:xfrm rot="0">
            <a:off x="11053348" y="9107807"/>
            <a:ext cx="7234652" cy="1179193"/>
          </a:xfrm>
          <a:prstGeom prst="rect">
            <a:avLst/>
          </a:prstGeom>
        </p:spPr>
        <p:txBody>
          <a:bodyPr anchor="t" rtlCol="false" tIns="0" lIns="0" bIns="0" rIns="0">
            <a:spAutoFit/>
          </a:bodyPr>
          <a:lstStyle/>
          <a:p>
            <a:pPr algn="ctr">
              <a:lnSpc>
                <a:spcPts val="3135"/>
              </a:lnSpc>
            </a:pPr>
            <a:r>
              <a:rPr lang="en-US" b="true" sz="2239" spc="-73">
                <a:solidFill>
                  <a:srgbClr val="0D3316"/>
                </a:solidFill>
                <a:latin typeface="HK Grotesk Bold"/>
                <a:ea typeface="HK Grotesk Bold"/>
                <a:cs typeface="HK Grotesk Bold"/>
                <a:sym typeface="HK Grotesk Bold"/>
              </a:rPr>
              <a:t>İBRAHİM CAN ÖZDEN 12-I   752</a:t>
            </a:r>
          </a:p>
          <a:p>
            <a:pPr algn="ctr">
              <a:lnSpc>
                <a:spcPts val="3135"/>
              </a:lnSpc>
            </a:pPr>
          </a:p>
          <a:p>
            <a:pPr algn="ctr">
              <a:lnSpc>
                <a:spcPts val="3135"/>
              </a:lnSpc>
              <a:spcBef>
                <a:spcPct val="0"/>
              </a:spcBef>
            </a:pPr>
            <a:r>
              <a:rPr lang="en-US" b="true" sz="2239" spc="-73">
                <a:solidFill>
                  <a:srgbClr val="0D3316"/>
                </a:solidFill>
                <a:latin typeface="HK Grotesk Bold"/>
                <a:ea typeface="HK Grotesk Bold"/>
                <a:cs typeface="HK Grotesk Bold"/>
                <a:sym typeface="HK Grotesk Bold"/>
              </a:rPr>
              <a:t>ATATÜRK İLKELERİ VE İNKILAP TARİHİ DERSİ PROJE ÖDEVİ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DAHDNU1IXOs</dc:identifier>
  <dcterms:modified xsi:type="dcterms:W3CDTF">2011-08-01T06:04:30Z</dcterms:modified>
  <cp:revision>1</cp:revision>
  <dc:title>Krem Sade Tarih ve Zaman Sunumu</dc:title>
</cp:coreProperties>
</file>